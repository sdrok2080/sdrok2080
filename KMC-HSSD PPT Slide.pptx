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notesMasterIdLst>
    <p:notesMasterId r:id="rId16"/>
  </p:notesMasterIdLst>
  <p:handoutMasterIdLst>
    <p:handoutMasterId r:id="rId17"/>
  </p:handoutMasterIdLst>
  <p:sldIdLst>
    <p:sldId id="285" r:id="rId2"/>
    <p:sldId id="313" r:id="rId3"/>
    <p:sldId id="288" r:id="rId4"/>
    <p:sldId id="292" r:id="rId5"/>
    <p:sldId id="293" r:id="rId6"/>
    <p:sldId id="294" r:id="rId7"/>
    <p:sldId id="295" r:id="rId8"/>
    <p:sldId id="296" r:id="rId9"/>
    <p:sldId id="289" r:id="rId10"/>
    <p:sldId id="304" r:id="rId11"/>
    <p:sldId id="299" r:id="rId12"/>
    <p:sldId id="258" r:id="rId13"/>
    <p:sldId id="312" r:id="rId14"/>
    <p:sldId id="31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42" autoAdjust="0"/>
  </p:normalViewPr>
  <p:slideViewPr>
    <p:cSldViewPr snapToGrid="0">
      <p:cViewPr varScale="1">
        <p:scale>
          <a:sx n="65" d="100"/>
          <a:sy n="65" d="100"/>
        </p:scale>
        <p:origin x="724"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C29DC2BF-2AE7-4771-BB84-B4401EE3DF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678C20D2-14C6-4936-A9DA-D64D77064D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9C5B00-5A5A-4EBF-8AE5-E940009BE772}" type="datetimeFigureOut">
              <a:rPr lang="en-US" smtClean="0"/>
              <a:pPr/>
              <a:t>8/24/2026</a:t>
            </a:fld>
            <a:endParaRPr lang="en-US"/>
          </a:p>
        </p:txBody>
      </p:sp>
      <p:sp>
        <p:nvSpPr>
          <p:cNvPr id="4" name="Footer Placeholder 3">
            <a:extLst>
              <a:ext uri="{FF2B5EF4-FFF2-40B4-BE49-F238E27FC236}">
                <a16:creationId xmlns:a16="http://schemas.microsoft.com/office/drawing/2014/main" xmlns="" id="{FFD863CD-BE75-4CAB-8F31-F7CD12EEEE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KMC-Humanities and Social Science</a:t>
            </a:r>
          </a:p>
        </p:txBody>
      </p:sp>
      <p:sp>
        <p:nvSpPr>
          <p:cNvPr id="5" name="Slide Number Placeholder 4">
            <a:extLst>
              <a:ext uri="{FF2B5EF4-FFF2-40B4-BE49-F238E27FC236}">
                <a16:creationId xmlns:a16="http://schemas.microsoft.com/office/drawing/2014/main" xmlns="" id="{89B936C2-1059-4A13-BB96-BCF3B9A71C0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1429F76-01AF-467F-9D3F-5AF377E52726}" type="slidenum">
              <a:rPr lang="en-US" smtClean="0"/>
              <a:pPr/>
              <a:t>‹#›</a:t>
            </a:fld>
            <a:endParaRPr lang="en-US"/>
          </a:p>
        </p:txBody>
      </p:sp>
    </p:spTree>
    <p:extLst>
      <p:ext uri="{BB962C8B-B14F-4D97-AF65-F5344CB8AC3E}">
        <p14:creationId xmlns:p14="http://schemas.microsoft.com/office/powerpoint/2010/main" val="342624016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3377CE-8031-4F0A-97C2-E251D203574E}" type="datetimeFigureOut">
              <a:rPr lang="en-US" smtClean="0"/>
              <a:pPr/>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KMC-Humanities and Social Science</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DC2139-8C1C-491A-8470-564BC22BE56B}" type="slidenum">
              <a:rPr lang="en-US" smtClean="0"/>
              <a:pPr/>
              <a:t>‹#›</a:t>
            </a:fld>
            <a:endParaRPr lang="en-US"/>
          </a:p>
        </p:txBody>
      </p:sp>
    </p:spTree>
    <p:extLst>
      <p:ext uri="{BB962C8B-B14F-4D97-AF65-F5344CB8AC3E}">
        <p14:creationId xmlns:p14="http://schemas.microsoft.com/office/powerpoint/2010/main" val="367347550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05293C"/>
                </a:solidFill>
                <a:effectLst/>
                <a:latin typeface="Open Sans"/>
              </a:rPr>
              <a:t>About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3F5C6E"/>
                </a:solidFill>
                <a:effectLst/>
                <a:latin typeface="Open Sans"/>
              </a:rPr>
              <a:t>History</a:t>
            </a:r>
          </a:p>
          <a:p>
            <a:pPr marL="0" lvl="0" indent="0" algn="just" defTabSz="914400">
              <a:buClrTx/>
              <a:buSzTx/>
              <a:buNone/>
            </a:pPr>
            <a:r>
              <a:rPr lang="en-US" sz="1200" dirty="0" smtClean="0"/>
              <a:t>         The Campus also has a separate humanities building for the Department and classes of Humanities Department. The building has 3 stories with 1 department office, 1 store room, and 8 classrooms. It consist an library in the second story.</a:t>
            </a:r>
            <a:r>
              <a:rPr lang="en-US" sz="1200" b="1" dirty="0" smtClean="0">
                <a:solidFill>
                  <a:srgbClr val="3F5C6E"/>
                </a:solidFill>
                <a:latin typeface="Open Sans"/>
              </a:rPr>
              <a:t> </a:t>
            </a:r>
            <a:r>
              <a:rPr kumimoji="0" lang="en-US" altLang="en-US" sz="1200" b="0" i="0" u="none" strike="noStrike" cap="none" normalizeH="0" baseline="0" dirty="0" smtClean="0">
                <a:ln>
                  <a:noFill/>
                </a:ln>
                <a:solidFill>
                  <a:srgbClr val="05293C"/>
                </a:solidFill>
                <a:effectLst/>
                <a:latin typeface="Open Sans"/>
              </a:rPr>
              <a:t>In 2019 the building opened in KMC. The focus is on English, </a:t>
            </a:r>
            <a:r>
              <a:rPr lang="en-US" sz="1200" dirty="0" smtClean="0"/>
              <a:t>Sociology, Rural Development, Economics and Additionally, Statistics and Mathematics</a:t>
            </a:r>
            <a:r>
              <a:rPr kumimoji="0" lang="en-US" altLang="en-US" sz="1200" b="0" i="0" u="none" strike="noStrike" cap="none" normalizeH="0" baseline="0" dirty="0" smtClean="0">
                <a:ln>
                  <a:noFill/>
                </a:ln>
                <a:solidFill>
                  <a:srgbClr val="05293C"/>
                </a:solidFill>
                <a:effectLst/>
                <a:latin typeface="Open Sans"/>
              </a:rPr>
              <a:t>. The roots of the College can be traced back even further to the Portsmouth and KMC Humanities and Social Sciences.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3F5C6E"/>
                </a:solidFill>
                <a:effectLst/>
                <a:latin typeface="Open Sans"/>
              </a:rPr>
              <a:t>Education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05293C"/>
                </a:solidFill>
                <a:effectLst/>
                <a:latin typeface="Open Sans"/>
              </a:rPr>
              <a:t>The staff invested in the team of learning development tutors - on a FOHSS course, you will have access to support in developing the academic skills needed to succeed in your bachelor, degree, and your confidence in them. This includes matters of academic style, data handling, research methods and - for students in KMC - English language skills.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3F5C6E"/>
                </a:solidFill>
                <a:effectLst/>
                <a:latin typeface="Open Sans"/>
              </a:rPr>
              <a:t>Research</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05293C"/>
                </a:solidFill>
                <a:effectLst/>
                <a:latin typeface="Open Sans"/>
              </a:rPr>
              <a:t>Research in the Faculty is a key activity, embracing PhD study, academic research projects and partnerships with external bodies. Our research </a:t>
            </a:r>
            <a:r>
              <a:rPr kumimoji="0" lang="en-US" altLang="en-US" sz="1200" b="0" i="0" u="none" strike="noStrike" cap="none" normalizeH="0" baseline="0" dirty="0" err="1" smtClean="0">
                <a:ln>
                  <a:noFill/>
                </a:ln>
                <a:solidFill>
                  <a:srgbClr val="05293C"/>
                </a:solidFill>
                <a:effectLst/>
                <a:latin typeface="Open Sans"/>
              </a:rPr>
              <a:t>centres</a:t>
            </a:r>
            <a:r>
              <a:rPr kumimoji="0" lang="en-US" altLang="en-US" sz="1200" b="0" i="0" u="none" strike="noStrike" cap="none" normalizeH="0" baseline="0" dirty="0" smtClean="0">
                <a:ln>
                  <a:noFill/>
                </a:ln>
                <a:solidFill>
                  <a:srgbClr val="05293C"/>
                </a:solidFill>
                <a:effectLst/>
                <a:latin typeface="Open Sans"/>
              </a:rPr>
              <a:t> exist to offer our researchers an academic arena to share and explore their field, benefit from professional support, and gain access to staff with wide experience of securing and managing bids and contracts.</a:t>
            </a:r>
          </a:p>
          <a:p>
            <a:pPr marL="0" indent="0">
              <a:buNone/>
            </a:pPr>
            <a:r>
              <a:rPr lang="en-US" sz="1200" b="1" dirty="0" smtClean="0"/>
              <a:t>Social Research:-</a:t>
            </a:r>
            <a:r>
              <a:rPr lang="en-US" sz="1200" dirty="0" smtClean="0"/>
              <a:t> </a:t>
            </a:r>
          </a:p>
          <a:p>
            <a:r>
              <a:rPr lang="en-US" sz="1200" dirty="0" smtClean="0"/>
              <a:t>Social research pertains to study of socio-cultural implications of the social issues.</a:t>
            </a:r>
          </a:p>
          <a:p>
            <a:r>
              <a:rPr lang="en-US" sz="1200" dirty="0" smtClean="0"/>
              <a:t>In this regard, different scientific discipline have influenced social research in terms of </a:t>
            </a:r>
            <a:r>
              <a:rPr lang="en-US" sz="1200" dirty="0" err="1" smtClean="0"/>
              <a:t>theorisation</a:t>
            </a:r>
            <a:r>
              <a:rPr lang="en-US" sz="1200" dirty="0" smtClean="0"/>
              <a:t> as well as method adopts in the pursuit of knowledge.</a:t>
            </a:r>
          </a:p>
          <a:p>
            <a:r>
              <a:rPr lang="en-US" sz="1200" dirty="0" smtClean="0"/>
              <a:t>Consequently, it embraces the conceptualization of the problem, theoretical debate, specification of research practices, analytical framework and epistemological presupposition.</a:t>
            </a:r>
          </a:p>
          <a:p>
            <a:r>
              <a:rPr lang="en-US" sz="1200" dirty="0" smtClean="0"/>
              <a:t>Social research in rural development depends on empirical methods to collect information regarding matter concerning social issues.</a:t>
            </a:r>
          </a:p>
          <a:p>
            <a:r>
              <a:rPr lang="en-US" sz="1200" dirty="0" smtClean="0"/>
              <a:t>In trying to seek explanations for what is observed, most scientists usually make use of positivistic assumptions and perspectives.</a:t>
            </a:r>
          </a:p>
          <a:p>
            <a:r>
              <a:rPr lang="en-US" sz="1200" dirty="0" smtClean="0"/>
              <a:t>However, the phenomenologist challenges these assumptions and concentrates primarily on experimental reality and its descriptions rather than on casual explanations.</a:t>
            </a:r>
          </a:p>
          <a:p>
            <a:r>
              <a:rPr lang="en-US" sz="1200" dirty="0" smtClean="0"/>
              <a:t>In critical research, the researcher is prepared to abandon lines of thought which do not get beneath surface appearances.</a:t>
            </a:r>
          </a:p>
          <a:p>
            <a:r>
              <a:rPr lang="en-US" sz="1200" dirty="0" smtClean="0"/>
              <a:t>It involves a constant questioning of perspective and the analyses that the researcher is building up.</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3F5C6E"/>
                </a:solidFill>
                <a:effectLst/>
                <a:latin typeface="Open Sans"/>
              </a:rPr>
              <a:t>Career</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05293C"/>
                </a:solidFill>
                <a:effectLst/>
                <a:latin typeface="Open Sans"/>
              </a:rPr>
              <a:t>The Faculty employs Learning Development Tutors between its </a:t>
            </a:r>
            <a:r>
              <a:rPr lang="en-US" altLang="en-US" sz="1200" dirty="0" smtClean="0">
                <a:solidFill>
                  <a:srgbClr val="05293C"/>
                </a:solidFill>
                <a:latin typeface="Open Sans"/>
              </a:rPr>
              <a:t>our college </a:t>
            </a:r>
            <a:r>
              <a:rPr kumimoji="0" lang="en-US" altLang="en-US" sz="1200" b="0" i="0" u="none" strike="noStrike" cap="none" normalizeH="0" baseline="0" dirty="0" smtClean="0">
                <a:ln>
                  <a:noFill/>
                </a:ln>
                <a:solidFill>
                  <a:srgbClr val="05293C"/>
                </a:solidFill>
                <a:effectLst/>
                <a:latin typeface="Open Sans"/>
              </a:rPr>
              <a:t>. If you are studying an FOHSS course, they will be available to support you in developing the academic skills needed to succeed in your degree, and your confidence in them. This includes matters of academic style, data handling, research methods and - for students in KMC - English language skills.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smtClean="0">
              <a:ln>
                <a:noFill/>
              </a:ln>
              <a:solidFill>
                <a:schemeClr val="tx1"/>
              </a:solidFill>
              <a:effectLst/>
            </a:endParaRPr>
          </a:p>
          <a:p>
            <a:endParaRPr lang="en-US" dirty="0"/>
          </a:p>
        </p:txBody>
      </p:sp>
      <p:sp>
        <p:nvSpPr>
          <p:cNvPr id="4" name="Footer Placeholder 3"/>
          <p:cNvSpPr>
            <a:spLocks noGrp="1"/>
          </p:cNvSpPr>
          <p:nvPr>
            <p:ph type="ftr" sz="quarter" idx="10"/>
          </p:nvPr>
        </p:nvSpPr>
        <p:spPr/>
        <p:txBody>
          <a:bodyPr/>
          <a:lstStyle/>
          <a:p>
            <a:r>
              <a:rPr lang="en-US" smtClean="0"/>
              <a:t>KMC-Humanities and Social Science</a:t>
            </a:r>
            <a:endParaRPr lang="en-US"/>
          </a:p>
        </p:txBody>
      </p:sp>
      <p:sp>
        <p:nvSpPr>
          <p:cNvPr id="5" name="Slide Number Placeholder 4"/>
          <p:cNvSpPr>
            <a:spLocks noGrp="1"/>
          </p:cNvSpPr>
          <p:nvPr>
            <p:ph type="sldNum" sz="quarter" idx="11"/>
          </p:nvPr>
        </p:nvSpPr>
        <p:spPr/>
        <p:txBody>
          <a:bodyPr/>
          <a:lstStyle/>
          <a:p>
            <a:fld id="{06DC2139-8C1C-491A-8470-564BC22BE56B}" type="slidenum">
              <a:rPr lang="en-US" smtClean="0"/>
              <a:pPr/>
              <a:t>1</a:t>
            </a:fld>
            <a:endParaRPr lang="en-US"/>
          </a:p>
        </p:txBody>
      </p:sp>
    </p:spTree>
    <p:extLst>
      <p:ext uri="{BB962C8B-B14F-4D97-AF65-F5344CB8AC3E}">
        <p14:creationId xmlns:p14="http://schemas.microsoft.com/office/powerpoint/2010/main" val="3246327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r>
              <a:rPr lang="en-US" smtClean="0"/>
              <a:t>KMC-Humanities and Social Science</a:t>
            </a:r>
            <a:endParaRPr lang="en-US"/>
          </a:p>
        </p:txBody>
      </p:sp>
      <p:sp>
        <p:nvSpPr>
          <p:cNvPr id="5" name="Slide Number Placeholder 4"/>
          <p:cNvSpPr>
            <a:spLocks noGrp="1"/>
          </p:cNvSpPr>
          <p:nvPr>
            <p:ph type="sldNum" sz="quarter" idx="11"/>
          </p:nvPr>
        </p:nvSpPr>
        <p:spPr/>
        <p:txBody>
          <a:bodyPr/>
          <a:lstStyle/>
          <a:p>
            <a:fld id="{06DC2139-8C1C-491A-8470-564BC22BE56B}" type="slidenum">
              <a:rPr lang="en-US" smtClean="0"/>
              <a:pPr/>
              <a:t>3</a:t>
            </a:fld>
            <a:endParaRPr lang="en-US"/>
          </a:p>
        </p:txBody>
      </p:sp>
    </p:spTree>
    <p:extLst>
      <p:ext uri="{BB962C8B-B14F-4D97-AF65-F5344CB8AC3E}">
        <p14:creationId xmlns:p14="http://schemas.microsoft.com/office/powerpoint/2010/main" val="12559475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Remember that curriculum development and review should be an iterative process that incorporates feedback, stays updated with the latest research and developments, and remains aligned with the goals of academic institutions and the broader society.</a:t>
            </a:r>
          </a:p>
          <a:p>
            <a:endParaRPr lang="en-US" dirty="0"/>
          </a:p>
        </p:txBody>
      </p:sp>
      <p:sp>
        <p:nvSpPr>
          <p:cNvPr id="4" name="Footer Placeholder 3"/>
          <p:cNvSpPr>
            <a:spLocks noGrp="1"/>
          </p:cNvSpPr>
          <p:nvPr>
            <p:ph type="ftr" sz="quarter" idx="10"/>
          </p:nvPr>
        </p:nvSpPr>
        <p:spPr/>
        <p:txBody>
          <a:bodyPr/>
          <a:lstStyle/>
          <a:p>
            <a:r>
              <a:rPr lang="en-US" smtClean="0"/>
              <a:t>KMC-Humanities and Social Science</a:t>
            </a:r>
            <a:endParaRPr lang="en-US"/>
          </a:p>
        </p:txBody>
      </p:sp>
      <p:sp>
        <p:nvSpPr>
          <p:cNvPr id="5" name="Slide Number Placeholder 4"/>
          <p:cNvSpPr>
            <a:spLocks noGrp="1"/>
          </p:cNvSpPr>
          <p:nvPr>
            <p:ph type="sldNum" sz="quarter" idx="11"/>
          </p:nvPr>
        </p:nvSpPr>
        <p:spPr/>
        <p:txBody>
          <a:bodyPr/>
          <a:lstStyle/>
          <a:p>
            <a:fld id="{06DC2139-8C1C-491A-8470-564BC22BE56B}" type="slidenum">
              <a:rPr lang="en-US" smtClean="0"/>
              <a:pPr/>
              <a:t>4</a:t>
            </a:fld>
            <a:endParaRPr lang="en-US"/>
          </a:p>
        </p:txBody>
      </p:sp>
    </p:spTree>
    <p:extLst>
      <p:ext uri="{BB962C8B-B14F-4D97-AF65-F5344CB8AC3E}">
        <p14:creationId xmlns:p14="http://schemas.microsoft.com/office/powerpoint/2010/main" val="2973104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Course delivery and instruction in the academic development of humanities and social sciences should be designed to engage students in critical thinking, foster intellectual curiosity, and encourage meaningful discussions. By employing these instructional strategies, educators can create engaging and meaningful learning experiences in the academic development of humanities and social sciences, fostering a deeper understanding of the subject matter and its broader implications.</a:t>
            </a:r>
          </a:p>
          <a:p>
            <a:endParaRPr lang="en-US" dirty="0"/>
          </a:p>
        </p:txBody>
      </p:sp>
      <p:sp>
        <p:nvSpPr>
          <p:cNvPr id="4" name="Footer Placeholder 3"/>
          <p:cNvSpPr>
            <a:spLocks noGrp="1"/>
          </p:cNvSpPr>
          <p:nvPr>
            <p:ph type="ftr" sz="quarter" idx="10"/>
          </p:nvPr>
        </p:nvSpPr>
        <p:spPr/>
        <p:txBody>
          <a:bodyPr/>
          <a:lstStyle/>
          <a:p>
            <a:r>
              <a:rPr lang="en-US" smtClean="0"/>
              <a:t>KMC-Humanities and Social Science</a:t>
            </a:r>
            <a:endParaRPr lang="en-US"/>
          </a:p>
        </p:txBody>
      </p:sp>
      <p:sp>
        <p:nvSpPr>
          <p:cNvPr id="5" name="Slide Number Placeholder 4"/>
          <p:cNvSpPr>
            <a:spLocks noGrp="1"/>
          </p:cNvSpPr>
          <p:nvPr>
            <p:ph type="sldNum" sz="quarter" idx="11"/>
          </p:nvPr>
        </p:nvSpPr>
        <p:spPr/>
        <p:txBody>
          <a:bodyPr/>
          <a:lstStyle/>
          <a:p>
            <a:fld id="{06DC2139-8C1C-491A-8470-564BC22BE56B}" type="slidenum">
              <a:rPr lang="en-US" smtClean="0"/>
              <a:pPr/>
              <a:t>5</a:t>
            </a:fld>
            <a:endParaRPr lang="en-US"/>
          </a:p>
        </p:txBody>
      </p:sp>
    </p:spTree>
    <p:extLst>
      <p:ext uri="{BB962C8B-B14F-4D97-AF65-F5344CB8AC3E}">
        <p14:creationId xmlns:p14="http://schemas.microsoft.com/office/powerpoint/2010/main" val="1387244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Student support and advising are critical components of academic development in humanities and social sciences. Effective support and guidance can help students succeed academically, develop their interests, and make informed decisions about their educational and career paths. By providing comprehensive student support and advising services, educational institutions can foster a positive learning experience for humanities and social science students, helping them reach their full potential and succeed in their chosen careers.</a:t>
            </a:r>
          </a:p>
          <a:p>
            <a:endParaRPr lang="en-US" dirty="0"/>
          </a:p>
        </p:txBody>
      </p:sp>
      <p:sp>
        <p:nvSpPr>
          <p:cNvPr id="4" name="Footer Placeholder 3"/>
          <p:cNvSpPr>
            <a:spLocks noGrp="1"/>
          </p:cNvSpPr>
          <p:nvPr>
            <p:ph type="ftr" sz="quarter" idx="10"/>
          </p:nvPr>
        </p:nvSpPr>
        <p:spPr/>
        <p:txBody>
          <a:bodyPr/>
          <a:lstStyle/>
          <a:p>
            <a:r>
              <a:rPr lang="en-US" smtClean="0"/>
              <a:t>KMC-Humanities and Social Science</a:t>
            </a:r>
            <a:endParaRPr lang="en-US"/>
          </a:p>
        </p:txBody>
      </p:sp>
      <p:sp>
        <p:nvSpPr>
          <p:cNvPr id="5" name="Slide Number Placeholder 4"/>
          <p:cNvSpPr>
            <a:spLocks noGrp="1"/>
          </p:cNvSpPr>
          <p:nvPr>
            <p:ph type="sldNum" sz="quarter" idx="11"/>
          </p:nvPr>
        </p:nvSpPr>
        <p:spPr/>
        <p:txBody>
          <a:bodyPr/>
          <a:lstStyle/>
          <a:p>
            <a:fld id="{06DC2139-8C1C-491A-8470-564BC22BE56B}" type="slidenum">
              <a:rPr lang="en-US" smtClean="0"/>
              <a:pPr/>
              <a:t>6</a:t>
            </a:fld>
            <a:endParaRPr lang="en-US"/>
          </a:p>
        </p:txBody>
      </p:sp>
    </p:spTree>
    <p:extLst>
      <p:ext uri="{BB962C8B-B14F-4D97-AF65-F5344CB8AC3E}">
        <p14:creationId xmlns:p14="http://schemas.microsoft.com/office/powerpoint/2010/main" val="2934562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Research and scholarship play a crucial role in the academic development of humanities and social sciences. They contribute to the advancement of knowledge, inform teaching practices, and deepen our understanding of human behavior, societies, cultures, and historical contexts. Thus Research and scholarship in humanities and social sciences continuously shape the fields' knowledge base, enriching education and contributing to societal development. By fostering a strong research culture, academic institutions can provide an intellectually stimulating environment that benefits students, faculty, and the broader community.</a:t>
            </a:r>
          </a:p>
          <a:p>
            <a:endParaRPr lang="en-US" dirty="0"/>
          </a:p>
        </p:txBody>
      </p:sp>
      <p:sp>
        <p:nvSpPr>
          <p:cNvPr id="4" name="Footer Placeholder 3"/>
          <p:cNvSpPr>
            <a:spLocks noGrp="1"/>
          </p:cNvSpPr>
          <p:nvPr>
            <p:ph type="ftr" sz="quarter" idx="10"/>
          </p:nvPr>
        </p:nvSpPr>
        <p:spPr/>
        <p:txBody>
          <a:bodyPr/>
          <a:lstStyle/>
          <a:p>
            <a:r>
              <a:rPr lang="en-US" smtClean="0"/>
              <a:t>KMC-Humanities and Social Science</a:t>
            </a:r>
            <a:endParaRPr lang="en-US"/>
          </a:p>
        </p:txBody>
      </p:sp>
      <p:sp>
        <p:nvSpPr>
          <p:cNvPr id="5" name="Slide Number Placeholder 4"/>
          <p:cNvSpPr>
            <a:spLocks noGrp="1"/>
          </p:cNvSpPr>
          <p:nvPr>
            <p:ph type="sldNum" sz="quarter" idx="11"/>
          </p:nvPr>
        </p:nvSpPr>
        <p:spPr/>
        <p:txBody>
          <a:bodyPr/>
          <a:lstStyle/>
          <a:p>
            <a:fld id="{06DC2139-8C1C-491A-8470-564BC22BE56B}" type="slidenum">
              <a:rPr lang="en-US" smtClean="0"/>
              <a:pPr/>
              <a:t>7</a:t>
            </a:fld>
            <a:endParaRPr lang="en-US"/>
          </a:p>
        </p:txBody>
      </p:sp>
    </p:spTree>
    <p:extLst>
      <p:ext uri="{BB962C8B-B14F-4D97-AF65-F5344CB8AC3E}">
        <p14:creationId xmlns:p14="http://schemas.microsoft.com/office/powerpoint/2010/main" val="38446038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Quality assurance and accreditation are essential components of ensuring the academic development of humanities and social science programs meet rigorous standards of excellence. These processes aim to maintain the quality and relevance of education, foster continuous improvement, and provide assurance to students, parents, employers, and other stakeholders. So, By implementing robust quality assurance and accreditation practices, institutions can continuously enhance the academic development of humanities and social science programs, prepare students for successful careers, and contribute to the advancement of knowledge in these disciplines.</a:t>
            </a:r>
          </a:p>
          <a:p>
            <a:endParaRPr lang="en-US" dirty="0"/>
          </a:p>
        </p:txBody>
      </p:sp>
      <p:sp>
        <p:nvSpPr>
          <p:cNvPr id="4" name="Footer Placeholder 3"/>
          <p:cNvSpPr>
            <a:spLocks noGrp="1"/>
          </p:cNvSpPr>
          <p:nvPr>
            <p:ph type="ftr" sz="quarter" idx="10"/>
          </p:nvPr>
        </p:nvSpPr>
        <p:spPr/>
        <p:txBody>
          <a:bodyPr/>
          <a:lstStyle/>
          <a:p>
            <a:r>
              <a:rPr lang="en-US" smtClean="0"/>
              <a:t>KMC-Humanities and Social Science</a:t>
            </a:r>
            <a:endParaRPr lang="en-US"/>
          </a:p>
        </p:txBody>
      </p:sp>
      <p:sp>
        <p:nvSpPr>
          <p:cNvPr id="5" name="Slide Number Placeholder 4"/>
          <p:cNvSpPr>
            <a:spLocks noGrp="1"/>
          </p:cNvSpPr>
          <p:nvPr>
            <p:ph type="sldNum" sz="quarter" idx="11"/>
          </p:nvPr>
        </p:nvSpPr>
        <p:spPr/>
        <p:txBody>
          <a:bodyPr/>
          <a:lstStyle/>
          <a:p>
            <a:fld id="{06DC2139-8C1C-491A-8470-564BC22BE56B}" type="slidenum">
              <a:rPr lang="en-US" smtClean="0"/>
              <a:pPr/>
              <a:t>8</a:t>
            </a:fld>
            <a:endParaRPr lang="en-US"/>
          </a:p>
        </p:txBody>
      </p:sp>
    </p:spTree>
    <p:extLst>
      <p:ext uri="{BB962C8B-B14F-4D97-AF65-F5344CB8AC3E}">
        <p14:creationId xmlns:p14="http://schemas.microsoft.com/office/powerpoint/2010/main" val="3589175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Community engagement and collaboration are integral aspects of the academic development of humanities and social science programs. These disciplines often deal with human interactions, cultures, and societies, making community involvement and collaboration vital for enriching the learning experience and creating a positive impact beyond the academic setting. By fostering community engagement and collaboration, academic institutions can create a meaningful and reciprocal relationship with the community, promoting social responsibility and enhancing the academic development of humanities and social science programs. Additionally, these interactions enrich students' educational experiences and prepare them to be active and responsible citizens in a global society.</a:t>
            </a:r>
          </a:p>
          <a:p>
            <a:endParaRPr lang="en-US" dirty="0"/>
          </a:p>
        </p:txBody>
      </p:sp>
      <p:sp>
        <p:nvSpPr>
          <p:cNvPr id="4" name="Footer Placeholder 3"/>
          <p:cNvSpPr>
            <a:spLocks noGrp="1"/>
          </p:cNvSpPr>
          <p:nvPr>
            <p:ph type="ftr" sz="quarter" idx="10"/>
          </p:nvPr>
        </p:nvSpPr>
        <p:spPr/>
        <p:txBody>
          <a:bodyPr/>
          <a:lstStyle/>
          <a:p>
            <a:r>
              <a:rPr lang="en-US" smtClean="0"/>
              <a:t>KMC-Humanities and Social Science</a:t>
            </a:r>
            <a:endParaRPr lang="en-US"/>
          </a:p>
        </p:txBody>
      </p:sp>
      <p:sp>
        <p:nvSpPr>
          <p:cNvPr id="5" name="Slide Number Placeholder 4"/>
          <p:cNvSpPr>
            <a:spLocks noGrp="1"/>
          </p:cNvSpPr>
          <p:nvPr>
            <p:ph type="sldNum" sz="quarter" idx="11"/>
          </p:nvPr>
        </p:nvSpPr>
        <p:spPr/>
        <p:txBody>
          <a:bodyPr/>
          <a:lstStyle/>
          <a:p>
            <a:fld id="{06DC2139-8C1C-491A-8470-564BC22BE56B}" type="slidenum">
              <a:rPr lang="en-US" smtClean="0"/>
              <a:pPr/>
              <a:t>9</a:t>
            </a:fld>
            <a:endParaRPr lang="en-US"/>
          </a:p>
        </p:txBody>
      </p:sp>
    </p:spTree>
    <p:extLst>
      <p:ext uri="{BB962C8B-B14F-4D97-AF65-F5344CB8AC3E}">
        <p14:creationId xmlns:p14="http://schemas.microsoft.com/office/powerpoint/2010/main" val="4079697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In the academic development of humanities and social science, both qualifications and a diverse set of skills are essential for educators, researchers, and students to thrive in their respective roles. So, By possessing the necessary qualifications and developing a diverse set of skills, individuals involved in the academic development of humanities and social science can make significant contributions to their respective fields, engage students effectively, and generate valuable insights for societal progress.</a:t>
            </a:r>
          </a:p>
          <a:p>
            <a:endParaRPr lang="en-US" dirty="0"/>
          </a:p>
        </p:txBody>
      </p:sp>
      <p:sp>
        <p:nvSpPr>
          <p:cNvPr id="4" name="Footer Placeholder 3"/>
          <p:cNvSpPr>
            <a:spLocks noGrp="1"/>
          </p:cNvSpPr>
          <p:nvPr>
            <p:ph type="ftr" sz="quarter" idx="10"/>
          </p:nvPr>
        </p:nvSpPr>
        <p:spPr/>
        <p:txBody>
          <a:bodyPr/>
          <a:lstStyle/>
          <a:p>
            <a:r>
              <a:rPr lang="en-US" smtClean="0"/>
              <a:t>KMC-Humanities and Social Science</a:t>
            </a:r>
            <a:endParaRPr lang="en-US"/>
          </a:p>
        </p:txBody>
      </p:sp>
      <p:sp>
        <p:nvSpPr>
          <p:cNvPr id="5" name="Slide Number Placeholder 4"/>
          <p:cNvSpPr>
            <a:spLocks noGrp="1"/>
          </p:cNvSpPr>
          <p:nvPr>
            <p:ph type="sldNum" sz="quarter" idx="11"/>
          </p:nvPr>
        </p:nvSpPr>
        <p:spPr/>
        <p:txBody>
          <a:bodyPr/>
          <a:lstStyle/>
          <a:p>
            <a:fld id="{06DC2139-8C1C-491A-8470-564BC22BE56B}" type="slidenum">
              <a:rPr lang="en-US" smtClean="0"/>
              <a:pPr/>
              <a:t>10</a:t>
            </a:fld>
            <a:endParaRPr lang="en-US"/>
          </a:p>
        </p:txBody>
      </p:sp>
    </p:spTree>
    <p:extLst>
      <p:ext uri="{BB962C8B-B14F-4D97-AF65-F5344CB8AC3E}">
        <p14:creationId xmlns:p14="http://schemas.microsoft.com/office/powerpoint/2010/main" val="14412498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Meeting minutes serve as a valuable tool for academic development in humanities and social science departments, facilitating communication, coordination, and strategic planning among faculty members and supporting the overall growth and advancement of the department.</a:t>
            </a:r>
            <a:endParaRPr lang="en-US" dirty="0"/>
          </a:p>
        </p:txBody>
      </p:sp>
      <p:sp>
        <p:nvSpPr>
          <p:cNvPr id="4" name="Footer Placeholder 3"/>
          <p:cNvSpPr>
            <a:spLocks noGrp="1"/>
          </p:cNvSpPr>
          <p:nvPr>
            <p:ph type="ftr" sz="quarter" idx="10"/>
          </p:nvPr>
        </p:nvSpPr>
        <p:spPr/>
        <p:txBody>
          <a:bodyPr/>
          <a:lstStyle/>
          <a:p>
            <a:r>
              <a:rPr lang="en-US" smtClean="0"/>
              <a:t>KMC-Humanities and Social Science</a:t>
            </a:r>
            <a:endParaRPr lang="en-US"/>
          </a:p>
        </p:txBody>
      </p:sp>
      <p:sp>
        <p:nvSpPr>
          <p:cNvPr id="5" name="Slide Number Placeholder 4"/>
          <p:cNvSpPr>
            <a:spLocks noGrp="1"/>
          </p:cNvSpPr>
          <p:nvPr>
            <p:ph type="sldNum" sz="quarter" idx="11"/>
          </p:nvPr>
        </p:nvSpPr>
        <p:spPr/>
        <p:txBody>
          <a:bodyPr/>
          <a:lstStyle/>
          <a:p>
            <a:fld id="{06DC2139-8C1C-491A-8470-564BC22BE56B}" type="slidenum">
              <a:rPr lang="en-US" smtClean="0"/>
              <a:pPr/>
              <a:t>11</a:t>
            </a:fld>
            <a:endParaRPr lang="en-US"/>
          </a:p>
        </p:txBody>
      </p:sp>
    </p:spTree>
    <p:extLst>
      <p:ext uri="{BB962C8B-B14F-4D97-AF65-F5344CB8AC3E}">
        <p14:creationId xmlns:p14="http://schemas.microsoft.com/office/powerpoint/2010/main" val="2892510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b="1" kern="1200" dirty="0" smtClean="0">
                <a:solidFill>
                  <a:schemeClr val="tx1"/>
                </a:solidFill>
                <a:latin typeface="+mn-lt"/>
                <a:ea typeface="+mn-ea"/>
                <a:cs typeface="+mn-cs"/>
              </a:rPr>
              <a:t>KMC-Humanities and Social Science</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 Inclusive , good-quality education is a foundation for dynamic and equitable societies ."</a:t>
            </a:r>
          </a:p>
          <a:p>
            <a:pPr lvl="0"/>
            <a:r>
              <a:rPr lang="en-US" sz="1200" kern="1200" dirty="0" smtClean="0">
                <a:solidFill>
                  <a:schemeClr val="tx1"/>
                </a:solidFill>
                <a:latin typeface="+mn-lt"/>
                <a:ea typeface="+mn-ea"/>
                <a:cs typeface="+mn-cs"/>
              </a:rPr>
              <a:t>THINK GLOBAL !!! Select , </a:t>
            </a:r>
            <a:r>
              <a:rPr lang="en-US" sz="1200" kern="1200" dirty="0" err="1" smtClean="0">
                <a:solidFill>
                  <a:schemeClr val="tx1"/>
                </a:solidFill>
                <a:latin typeface="+mn-lt"/>
                <a:ea typeface="+mn-ea"/>
                <a:cs typeface="+mn-cs"/>
              </a:rPr>
              <a:t>Kapilvastu</a:t>
            </a:r>
            <a:r>
              <a:rPr lang="en-US" sz="1200" kern="1200" dirty="0" smtClean="0">
                <a:solidFill>
                  <a:schemeClr val="tx1"/>
                </a:solidFill>
                <a:latin typeface="+mn-lt"/>
                <a:ea typeface="+mn-ea"/>
                <a:cs typeface="+mn-cs"/>
              </a:rPr>
              <a:t> Multiple Campus ( KMC ) </a:t>
            </a:r>
            <a:r>
              <a:rPr lang="en-US" sz="1200" kern="1200" dirty="0" err="1" smtClean="0">
                <a:solidFill>
                  <a:schemeClr val="tx1"/>
                </a:solidFill>
                <a:latin typeface="+mn-lt"/>
                <a:ea typeface="+mn-ea"/>
                <a:cs typeface="+mn-cs"/>
              </a:rPr>
              <a:t>Taulihawa</a:t>
            </a:r>
            <a:r>
              <a:rPr lang="en-US" sz="1200" kern="1200" dirty="0" smtClean="0">
                <a:solidFill>
                  <a:schemeClr val="tx1"/>
                </a:solidFill>
                <a:latin typeface="+mn-lt"/>
                <a:ea typeface="+mn-ea"/>
                <a:cs typeface="+mn-cs"/>
              </a:rPr>
              <a:t> offering wide range of </a:t>
            </a:r>
            <a:r>
              <a:rPr lang="en-US" sz="1200" kern="1200" dirty="0" err="1" smtClean="0">
                <a:solidFill>
                  <a:schemeClr val="tx1"/>
                </a:solidFill>
                <a:latin typeface="+mn-lt"/>
                <a:ea typeface="+mn-ea"/>
                <a:cs typeface="+mn-cs"/>
              </a:rPr>
              <a:t>cources</a:t>
            </a:r>
            <a:r>
              <a:rPr lang="en-US" sz="1200" kern="1200" dirty="0" smtClean="0">
                <a:solidFill>
                  <a:schemeClr val="tx1"/>
                </a:solidFill>
                <a:latin typeface="+mn-lt"/>
                <a:ea typeface="+mn-ea"/>
                <a:cs typeface="+mn-cs"/>
              </a:rPr>
              <a:t> in Science , Management , Hotel Management , Law , Computer Science , Education , Humanities(Sociology, Anthropology, Social Worker, Rural Development).</a:t>
            </a:r>
          </a:p>
          <a:p>
            <a:pPr lvl="0"/>
            <a:r>
              <a:rPr lang="en-US" sz="1200" kern="1200" dirty="0" smtClean="0">
                <a:solidFill>
                  <a:schemeClr val="tx1"/>
                </a:solidFill>
                <a:latin typeface="+mn-lt"/>
                <a:ea typeface="+mn-ea"/>
                <a:cs typeface="+mn-cs"/>
              </a:rPr>
              <a:t>Why study humanities and social sciences ? </a:t>
            </a:r>
          </a:p>
          <a:p>
            <a:r>
              <a:rPr lang="en-US" sz="1200" kern="1200" dirty="0" smtClean="0">
                <a:solidFill>
                  <a:schemeClr val="tx1"/>
                </a:solidFill>
                <a:latin typeface="+mn-lt"/>
                <a:ea typeface="+mn-ea"/>
                <a:cs typeface="+mn-cs"/>
              </a:rPr>
              <a:t>Why we are Great ..................???</a:t>
            </a:r>
          </a:p>
          <a:p>
            <a:pPr lvl="0"/>
            <a:r>
              <a:rPr lang="en-US" sz="1200" kern="1200" dirty="0" smtClean="0">
                <a:solidFill>
                  <a:schemeClr val="tx1"/>
                </a:solidFill>
                <a:latin typeface="+mn-lt"/>
                <a:ea typeface="+mn-ea"/>
                <a:cs typeface="+mn-cs"/>
              </a:rPr>
              <a:t>Our Teaching is underpinned by research.</a:t>
            </a:r>
          </a:p>
          <a:p>
            <a:pPr lvl="0"/>
            <a:r>
              <a:rPr lang="en-US" sz="1200" kern="1200" dirty="0" smtClean="0">
                <a:solidFill>
                  <a:schemeClr val="tx1"/>
                </a:solidFill>
                <a:latin typeface="+mn-lt"/>
                <a:ea typeface="+mn-ea"/>
                <a:cs typeface="+mn-cs"/>
              </a:rPr>
              <a:t>New ideas and theories are tested in the classroom.</a:t>
            </a:r>
          </a:p>
          <a:p>
            <a:pPr lvl="0"/>
            <a:r>
              <a:rPr lang="en-US" sz="1200" kern="1200" dirty="0" smtClean="0">
                <a:solidFill>
                  <a:schemeClr val="tx1"/>
                </a:solidFill>
                <a:latin typeface="+mn-lt"/>
                <a:ea typeface="+mn-ea"/>
                <a:cs typeface="+mn-cs"/>
              </a:rPr>
              <a:t>You acquire a range of skill valued by employers including research, interpreting data and debating .</a:t>
            </a:r>
          </a:p>
          <a:p>
            <a:pPr lvl="0"/>
            <a:r>
              <a:rPr lang="en-US" sz="1200" kern="1200" dirty="0" smtClean="0">
                <a:solidFill>
                  <a:schemeClr val="tx1"/>
                </a:solidFill>
                <a:latin typeface="+mn-lt"/>
                <a:ea typeface="+mn-ea"/>
                <a:cs typeface="+mn-cs"/>
              </a:rPr>
              <a:t>You develop the critical and inventive thinking skills necessary for many Graduate Jobs .</a:t>
            </a:r>
          </a:p>
          <a:p>
            <a:pPr lvl="0"/>
            <a:r>
              <a:rPr lang="en-US" sz="1200" kern="1200" dirty="0" smtClean="0">
                <a:solidFill>
                  <a:schemeClr val="tx1"/>
                </a:solidFill>
                <a:latin typeface="+mn-lt"/>
                <a:ea typeface="+mn-ea"/>
                <a:cs typeface="+mn-cs"/>
              </a:rPr>
              <a:t>Why Higher Education in </a:t>
            </a:r>
            <a:r>
              <a:rPr lang="en-US" sz="1200" kern="1200" dirty="0" err="1" smtClean="0">
                <a:solidFill>
                  <a:schemeClr val="tx1"/>
                </a:solidFill>
                <a:latin typeface="+mn-lt"/>
                <a:ea typeface="+mn-ea"/>
                <a:cs typeface="+mn-cs"/>
              </a:rPr>
              <a:t>Kapilvastu</a:t>
            </a:r>
            <a:r>
              <a:rPr lang="en-US" sz="1200" kern="1200" dirty="0" smtClean="0">
                <a:solidFill>
                  <a:schemeClr val="tx1"/>
                </a:solidFill>
                <a:latin typeface="+mn-lt"/>
                <a:ea typeface="+mn-ea"/>
                <a:cs typeface="+mn-cs"/>
              </a:rPr>
              <a:t> Multiple Campus (KMC) , </a:t>
            </a:r>
            <a:r>
              <a:rPr lang="en-US" sz="1200" kern="1200" dirty="0" err="1" smtClean="0">
                <a:solidFill>
                  <a:schemeClr val="tx1"/>
                </a:solidFill>
                <a:latin typeface="+mn-lt"/>
                <a:ea typeface="+mn-ea"/>
                <a:cs typeface="+mn-cs"/>
              </a:rPr>
              <a:t>Taulihawa</a:t>
            </a:r>
            <a:r>
              <a:rPr lang="en-US" sz="1200" kern="1200" dirty="0" smtClean="0">
                <a:solidFill>
                  <a:schemeClr val="tx1"/>
                </a:solidFill>
                <a:latin typeface="+mn-lt"/>
                <a:ea typeface="+mn-ea"/>
                <a:cs typeface="+mn-cs"/>
              </a:rPr>
              <a:t> ???</a:t>
            </a:r>
          </a:p>
          <a:p>
            <a:pPr lvl="0"/>
            <a:r>
              <a:rPr lang="en-US" sz="1200" kern="1200" dirty="0" smtClean="0">
                <a:solidFill>
                  <a:schemeClr val="tx1"/>
                </a:solidFill>
                <a:latin typeface="+mn-lt"/>
                <a:ea typeface="+mn-ea"/>
                <a:cs typeface="+mn-cs"/>
              </a:rPr>
              <a:t> Using SMART Board , Electronic Whiteboard which connect with computer &amp; projector in classroom.</a:t>
            </a:r>
          </a:p>
          <a:p>
            <a:pPr lvl="0"/>
            <a:r>
              <a:rPr lang="en-US" sz="1200" kern="1200" dirty="0" smtClean="0">
                <a:solidFill>
                  <a:schemeClr val="tx1"/>
                </a:solidFill>
                <a:latin typeface="+mn-lt"/>
                <a:ea typeface="+mn-ea"/>
                <a:cs typeface="+mn-cs"/>
              </a:rPr>
              <a:t> Using EMIS System , Teaching &amp; Learning by Online Virtual Classes (Due to the epidemic) .</a:t>
            </a:r>
          </a:p>
          <a:p>
            <a:pPr lvl="0"/>
            <a:r>
              <a:rPr lang="en-US" sz="1200" kern="1200" dirty="0" smtClean="0">
                <a:solidFill>
                  <a:schemeClr val="tx1"/>
                </a:solidFill>
                <a:latin typeface="+mn-lt"/>
                <a:ea typeface="+mn-ea"/>
                <a:cs typeface="+mn-cs"/>
              </a:rPr>
              <a:t> ICT Lab &amp; Research Lab</a:t>
            </a:r>
          </a:p>
          <a:p>
            <a:pPr lvl="0"/>
            <a:r>
              <a:rPr lang="en-US" sz="1200" kern="1200" dirty="0" smtClean="0">
                <a:solidFill>
                  <a:schemeClr val="tx1"/>
                </a:solidFill>
                <a:latin typeface="+mn-lt"/>
                <a:ea typeface="+mn-ea"/>
                <a:cs typeface="+mn-cs"/>
              </a:rPr>
              <a:t>Training &amp; Seminar Hall</a:t>
            </a:r>
          </a:p>
          <a:p>
            <a:pPr lvl="0"/>
            <a:r>
              <a:rPr lang="en-US" sz="1200" kern="1200" dirty="0" smtClean="0">
                <a:solidFill>
                  <a:schemeClr val="tx1"/>
                </a:solidFill>
                <a:latin typeface="+mn-lt"/>
                <a:ea typeface="+mn-ea"/>
                <a:cs typeface="+mn-cs"/>
              </a:rPr>
              <a:t> Webcam Facilities</a:t>
            </a:r>
          </a:p>
          <a:p>
            <a:pPr lvl="0"/>
            <a:r>
              <a:rPr lang="en-US" sz="1200" kern="1200" dirty="0" smtClean="0">
                <a:solidFill>
                  <a:schemeClr val="tx1"/>
                </a:solidFill>
                <a:latin typeface="+mn-lt"/>
                <a:ea typeface="+mn-ea"/>
                <a:cs typeface="+mn-cs"/>
              </a:rPr>
              <a:t> CCTV-Camera Service</a:t>
            </a:r>
          </a:p>
          <a:p>
            <a:pPr lvl="0"/>
            <a:r>
              <a:rPr lang="en-US" sz="1200" kern="1200" dirty="0" smtClean="0">
                <a:solidFill>
                  <a:schemeClr val="tx1"/>
                </a:solidFill>
                <a:latin typeface="+mn-lt"/>
                <a:ea typeface="+mn-ea"/>
                <a:cs typeface="+mn-cs"/>
              </a:rPr>
              <a:t> Quality </a:t>
            </a:r>
            <a:r>
              <a:rPr lang="en-US" sz="1200" kern="1200" dirty="0" err="1" smtClean="0">
                <a:solidFill>
                  <a:schemeClr val="tx1"/>
                </a:solidFill>
                <a:latin typeface="+mn-lt"/>
                <a:ea typeface="+mn-ea"/>
                <a:cs typeface="+mn-cs"/>
              </a:rPr>
              <a:t>Programme</a:t>
            </a:r>
            <a:r>
              <a:rPr lang="en-US" sz="1200" kern="1200" dirty="0" smtClean="0">
                <a:solidFill>
                  <a:schemeClr val="tx1"/>
                </a:solidFill>
                <a:latin typeface="+mn-lt"/>
                <a:ea typeface="+mn-ea"/>
                <a:cs typeface="+mn-cs"/>
              </a:rPr>
              <a:t> </a:t>
            </a:r>
          </a:p>
          <a:p>
            <a:pPr lvl="0"/>
            <a:r>
              <a:rPr lang="en-US" sz="1200" kern="1200" dirty="0" smtClean="0">
                <a:solidFill>
                  <a:schemeClr val="tx1"/>
                </a:solidFill>
                <a:latin typeface="+mn-lt"/>
                <a:ea typeface="+mn-ea"/>
                <a:cs typeface="+mn-cs"/>
              </a:rPr>
              <a:t> Educational Activity </a:t>
            </a:r>
          </a:p>
          <a:p>
            <a:pPr lvl="0"/>
            <a:r>
              <a:rPr lang="en-US" sz="1200" kern="1200" dirty="0" smtClean="0">
                <a:solidFill>
                  <a:schemeClr val="tx1"/>
                </a:solidFill>
                <a:latin typeface="+mn-lt"/>
                <a:ea typeface="+mn-ea"/>
                <a:cs typeface="+mn-cs"/>
              </a:rPr>
              <a:t> Extra Curricular Activity </a:t>
            </a:r>
          </a:p>
          <a:p>
            <a:pPr lvl="0"/>
            <a:r>
              <a:rPr lang="en-US" sz="1200" kern="1200" dirty="0" smtClean="0">
                <a:solidFill>
                  <a:schemeClr val="tx1"/>
                </a:solidFill>
                <a:latin typeface="+mn-lt"/>
                <a:ea typeface="+mn-ea"/>
                <a:cs typeface="+mn-cs"/>
              </a:rPr>
              <a:t> Appropriate Class Size</a:t>
            </a:r>
          </a:p>
          <a:p>
            <a:pPr lvl="0"/>
            <a:r>
              <a:rPr lang="en-US" sz="1200" kern="1200" dirty="0" smtClean="0">
                <a:solidFill>
                  <a:schemeClr val="tx1"/>
                </a:solidFill>
                <a:latin typeface="+mn-lt"/>
                <a:ea typeface="+mn-ea"/>
                <a:cs typeface="+mn-cs"/>
              </a:rPr>
              <a:t> Student Success rate higher</a:t>
            </a:r>
          </a:p>
          <a:p>
            <a:pPr lvl="0"/>
            <a:r>
              <a:rPr lang="en-US" sz="1200" kern="1200" dirty="0" smtClean="0">
                <a:solidFill>
                  <a:schemeClr val="tx1"/>
                </a:solidFill>
                <a:latin typeface="+mn-lt"/>
                <a:ea typeface="+mn-ea"/>
                <a:cs typeface="+mn-cs"/>
              </a:rPr>
              <a:t> Language &amp; Academic Support</a:t>
            </a:r>
          </a:p>
          <a:p>
            <a:pPr lvl="0"/>
            <a:r>
              <a:rPr lang="en-US" sz="1200" kern="1200" dirty="0" smtClean="0">
                <a:solidFill>
                  <a:schemeClr val="tx1"/>
                </a:solidFill>
                <a:latin typeface="+mn-lt"/>
                <a:ea typeface="+mn-ea"/>
                <a:cs typeface="+mn-cs"/>
              </a:rPr>
              <a:t> Student mentor program</a:t>
            </a:r>
          </a:p>
          <a:p>
            <a:pPr lvl="0"/>
            <a:r>
              <a:rPr lang="en-US" sz="1200" kern="1200" dirty="0" smtClean="0">
                <a:solidFill>
                  <a:schemeClr val="tx1"/>
                </a:solidFill>
                <a:latin typeface="+mn-lt"/>
                <a:ea typeface="+mn-ea"/>
                <a:cs typeface="+mn-cs"/>
              </a:rPr>
              <a:t> Friendly &amp; Experienced Staff</a:t>
            </a:r>
          </a:p>
          <a:p>
            <a:pPr lvl="0"/>
            <a:r>
              <a:rPr lang="en-US" sz="1200" kern="1200" dirty="0" smtClean="0">
                <a:solidFill>
                  <a:schemeClr val="tx1"/>
                </a:solidFill>
                <a:latin typeface="+mn-lt"/>
                <a:ea typeface="+mn-ea"/>
                <a:cs typeface="+mn-cs"/>
              </a:rPr>
              <a:t> Experienced Lecturer</a:t>
            </a:r>
          </a:p>
          <a:p>
            <a:pPr lvl="0"/>
            <a:r>
              <a:rPr lang="en-US" sz="1200" kern="1200" dirty="0" smtClean="0">
                <a:solidFill>
                  <a:schemeClr val="tx1"/>
                </a:solidFill>
                <a:latin typeface="+mn-lt"/>
                <a:ea typeface="+mn-ea"/>
                <a:cs typeface="+mn-cs"/>
              </a:rPr>
              <a:t> Student Leading Career Service</a:t>
            </a:r>
          </a:p>
          <a:p>
            <a:pPr lvl="0"/>
            <a:r>
              <a:rPr lang="en-US" sz="1200" kern="1200" dirty="0" smtClean="0">
                <a:solidFill>
                  <a:schemeClr val="tx1"/>
                </a:solidFill>
                <a:latin typeface="+mn-lt"/>
                <a:ea typeface="+mn-ea"/>
                <a:cs typeface="+mn-cs"/>
              </a:rPr>
              <a:t> Student´s Hostel</a:t>
            </a:r>
          </a:p>
          <a:p>
            <a:pPr lvl="0"/>
            <a:r>
              <a:rPr lang="en-US" sz="1200" kern="1200" dirty="0" smtClean="0">
                <a:solidFill>
                  <a:schemeClr val="tx1"/>
                </a:solidFill>
                <a:latin typeface="+mn-lt"/>
                <a:ea typeface="+mn-ea"/>
                <a:cs typeface="+mn-cs"/>
              </a:rPr>
              <a:t> Lecturer Residence </a:t>
            </a:r>
          </a:p>
          <a:p>
            <a:pPr lvl="0"/>
            <a:r>
              <a:rPr lang="en-US" sz="1200" kern="1200" dirty="0" smtClean="0">
                <a:solidFill>
                  <a:schemeClr val="tx1"/>
                </a:solidFill>
                <a:latin typeface="+mn-lt"/>
                <a:ea typeface="+mn-ea"/>
                <a:cs typeface="+mn-cs"/>
              </a:rPr>
              <a:t>Effective Well </a:t>
            </a:r>
            <a:r>
              <a:rPr lang="en-US" sz="1200" kern="1200" dirty="0" err="1" smtClean="0">
                <a:solidFill>
                  <a:schemeClr val="tx1"/>
                </a:solidFill>
                <a:latin typeface="+mn-lt"/>
                <a:ea typeface="+mn-ea"/>
                <a:cs typeface="+mn-cs"/>
              </a:rPr>
              <a:t>Equiped</a:t>
            </a:r>
            <a:r>
              <a:rPr lang="en-US" sz="1200" kern="1200" dirty="0" smtClean="0">
                <a:solidFill>
                  <a:schemeClr val="tx1"/>
                </a:solidFill>
                <a:latin typeface="+mn-lt"/>
                <a:ea typeface="+mn-ea"/>
                <a:cs typeface="+mn-cs"/>
              </a:rPr>
              <a:t> Library</a:t>
            </a:r>
          </a:p>
          <a:p>
            <a:pPr lvl="0"/>
            <a:r>
              <a:rPr lang="en-US" sz="1200" kern="1200" dirty="0" err="1" smtClean="0">
                <a:solidFill>
                  <a:schemeClr val="tx1"/>
                </a:solidFill>
                <a:latin typeface="+mn-lt"/>
                <a:ea typeface="+mn-ea"/>
                <a:cs typeface="+mn-cs"/>
              </a:rPr>
              <a:t>Facultywise</a:t>
            </a:r>
            <a:r>
              <a:rPr lang="en-US" sz="1200" kern="1200" dirty="0" smtClean="0">
                <a:solidFill>
                  <a:schemeClr val="tx1"/>
                </a:solidFill>
                <a:latin typeface="+mn-lt"/>
                <a:ea typeface="+mn-ea"/>
                <a:cs typeface="+mn-cs"/>
              </a:rPr>
              <a:t> laboratory </a:t>
            </a:r>
          </a:p>
          <a:p>
            <a:pPr lvl="0"/>
            <a:r>
              <a:rPr lang="en-US" sz="1200" kern="1200" dirty="0" smtClean="0">
                <a:solidFill>
                  <a:schemeClr val="tx1"/>
                </a:solidFill>
                <a:latin typeface="+mn-lt"/>
                <a:ea typeface="+mn-ea"/>
                <a:cs typeface="+mn-cs"/>
              </a:rPr>
              <a:t> Science laboratory </a:t>
            </a:r>
          </a:p>
          <a:p>
            <a:pPr lvl="0"/>
            <a:r>
              <a:rPr lang="en-US" sz="1200" kern="1200" dirty="0" smtClean="0">
                <a:solidFill>
                  <a:schemeClr val="tx1"/>
                </a:solidFill>
                <a:latin typeface="+mn-lt"/>
                <a:ea typeface="+mn-ea"/>
                <a:cs typeface="+mn-cs"/>
              </a:rPr>
              <a:t> Research &amp; Proposal writing training </a:t>
            </a:r>
          </a:p>
          <a:p>
            <a:pPr lvl="0"/>
            <a:r>
              <a:rPr lang="en-US" sz="1200" kern="1200" dirty="0" smtClean="0">
                <a:solidFill>
                  <a:schemeClr val="tx1"/>
                </a:solidFill>
                <a:latin typeface="+mn-lt"/>
                <a:ea typeface="+mn-ea"/>
                <a:cs typeface="+mn-cs"/>
              </a:rPr>
              <a:t> Playground , Pond, Flower Garden</a:t>
            </a:r>
          </a:p>
          <a:p>
            <a:pPr lvl="0"/>
            <a:r>
              <a:rPr lang="en-US" sz="1200" kern="1200" dirty="0" smtClean="0">
                <a:solidFill>
                  <a:schemeClr val="tx1"/>
                </a:solidFill>
                <a:latin typeface="+mn-lt"/>
                <a:ea typeface="+mn-ea"/>
                <a:cs typeface="+mn-cs"/>
              </a:rPr>
              <a:t> Inner City Location ...............???</a:t>
            </a:r>
          </a:p>
          <a:p>
            <a:pPr lvl="0"/>
            <a:r>
              <a:rPr lang="en-US" sz="1200" kern="1200" dirty="0" smtClean="0">
                <a:solidFill>
                  <a:schemeClr val="tx1"/>
                </a:solidFill>
                <a:latin typeface="+mn-lt"/>
                <a:ea typeface="+mn-ea"/>
                <a:cs typeface="+mn-cs"/>
              </a:rPr>
              <a:t>The KMC-College welcomes to you for online admission due to the epidemic disease covid-19 , which links are given below :- Registration Link : http://emis.kmctlw.edu.np/student-enrollment</a:t>
            </a:r>
          </a:p>
          <a:p>
            <a:pPr lvl="0"/>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Admissionopen</a:t>
            </a:r>
            <a:r>
              <a:rPr lang="en-US" sz="1200" kern="1200" dirty="0" smtClean="0">
                <a:solidFill>
                  <a:schemeClr val="tx1"/>
                </a:solidFill>
                <a:latin typeface="+mn-lt"/>
                <a:ea typeface="+mn-ea"/>
                <a:cs typeface="+mn-cs"/>
              </a:rPr>
              <a:t> </a:t>
            </a:r>
          </a:p>
          <a:p>
            <a:pPr lvl="0"/>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KapilvastuMultipleCampus</a:t>
            </a:r>
            <a:r>
              <a:rPr lang="en-US" sz="1200" kern="1200" dirty="0" smtClean="0">
                <a:solidFill>
                  <a:schemeClr val="tx1"/>
                </a:solidFill>
                <a:latin typeface="+mn-lt"/>
                <a:ea typeface="+mn-ea"/>
                <a:cs typeface="+mn-cs"/>
              </a:rPr>
              <a:t> </a:t>
            </a:r>
          </a:p>
          <a:p>
            <a:pPr lvl="0"/>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science_management_humanities_Education</a:t>
            </a:r>
            <a:r>
              <a:rPr lang="en-US" sz="1200" kern="1200" dirty="0" smtClean="0">
                <a:solidFill>
                  <a:schemeClr val="tx1"/>
                </a:solidFill>
                <a:latin typeface="+mn-lt"/>
                <a:ea typeface="+mn-ea"/>
                <a:cs typeface="+mn-cs"/>
              </a:rPr>
              <a:t>............</a:t>
            </a:r>
          </a:p>
          <a:p>
            <a:pPr lvl="0"/>
            <a:r>
              <a:rPr lang="en-US" sz="1200" kern="1200" dirty="0" smtClean="0">
                <a:solidFill>
                  <a:schemeClr val="tx1"/>
                </a:solidFill>
                <a:latin typeface="+mn-lt"/>
                <a:ea typeface="+mn-ea"/>
                <a:cs typeface="+mn-cs"/>
              </a:rPr>
              <a:t>THANK YOU and Best of Luck for your upcoming future .....</a:t>
            </a:r>
          </a:p>
          <a:p>
            <a:r>
              <a:rPr lang="en-US" sz="1200" kern="1200" dirty="0" smtClean="0">
                <a:solidFill>
                  <a:schemeClr val="tx1"/>
                </a:solidFill>
                <a:latin typeface="+mn-lt"/>
                <a:ea typeface="+mn-ea"/>
                <a:cs typeface="+mn-cs"/>
              </a:rPr>
              <a:t>                                                                                                     </a:t>
            </a:r>
            <a:r>
              <a:rPr lang="en-US" sz="1200" b="1" kern="1200" dirty="0" smtClean="0">
                <a:solidFill>
                  <a:schemeClr val="tx1"/>
                </a:solidFill>
                <a:latin typeface="+mn-lt"/>
                <a:ea typeface="+mn-ea"/>
                <a:cs typeface="+mn-cs"/>
              </a:rPr>
              <a:t>                             	                                               </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p>
          <a:p>
            <a:endParaRPr lang="en-US" dirty="0"/>
          </a:p>
        </p:txBody>
      </p:sp>
      <p:sp>
        <p:nvSpPr>
          <p:cNvPr id="4" name="Footer Placeholder 3"/>
          <p:cNvSpPr>
            <a:spLocks noGrp="1"/>
          </p:cNvSpPr>
          <p:nvPr>
            <p:ph type="ftr" sz="quarter" idx="10"/>
          </p:nvPr>
        </p:nvSpPr>
        <p:spPr/>
        <p:txBody>
          <a:bodyPr/>
          <a:lstStyle/>
          <a:p>
            <a:r>
              <a:rPr lang="en-US" smtClean="0"/>
              <a:t>KMC-Humanities and Social Science</a:t>
            </a:r>
            <a:endParaRPr lang="en-US"/>
          </a:p>
        </p:txBody>
      </p:sp>
      <p:sp>
        <p:nvSpPr>
          <p:cNvPr id="5" name="Slide Number Placeholder 4"/>
          <p:cNvSpPr>
            <a:spLocks noGrp="1"/>
          </p:cNvSpPr>
          <p:nvPr>
            <p:ph type="sldNum" sz="quarter" idx="11"/>
          </p:nvPr>
        </p:nvSpPr>
        <p:spPr/>
        <p:txBody>
          <a:bodyPr/>
          <a:lstStyle/>
          <a:p>
            <a:fld id="{06DC2139-8C1C-491A-8470-564BC22BE56B}" type="slidenum">
              <a:rPr lang="en-US" smtClean="0"/>
              <a:pPr/>
              <a:t>12</a:t>
            </a:fld>
            <a:endParaRPr lang="en-US"/>
          </a:p>
        </p:txBody>
      </p:sp>
    </p:spTree>
    <p:extLst>
      <p:ext uri="{BB962C8B-B14F-4D97-AF65-F5344CB8AC3E}">
        <p14:creationId xmlns:p14="http://schemas.microsoft.com/office/powerpoint/2010/main" val="4022435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7A1E83-3BE7-40BE-B213-9AF8327D5462}" type="datetime1">
              <a:rPr lang="en-US" smtClean="0"/>
              <a:pPr/>
              <a:t>8/24/2026</a:t>
            </a:fld>
            <a:endParaRPr lang="en-US" dirty="0"/>
          </a:p>
        </p:txBody>
      </p:sp>
      <p:sp>
        <p:nvSpPr>
          <p:cNvPr id="5" name="Footer Placeholder 4"/>
          <p:cNvSpPr>
            <a:spLocks noGrp="1"/>
          </p:cNvSpPr>
          <p:nvPr>
            <p:ph type="ftr" sz="quarter" idx="11"/>
          </p:nvPr>
        </p:nvSpPr>
        <p:spPr/>
        <p:txBody>
          <a:bodyPr/>
          <a:lstStyle/>
          <a:p>
            <a:r>
              <a:rPr lang="en-US"/>
              <a:t>KMC-HUMANITIES AND SOCIAL SCIENCE DEPARTMENT</a:t>
            </a:r>
          </a:p>
        </p:txBody>
      </p:sp>
      <p:sp>
        <p:nvSpPr>
          <p:cNvPr id="6" name="Slide Number Placeholder 5"/>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1141264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9C26D0-579E-48B6-80BF-79E275729DB1}" type="datetime1">
              <a:rPr lang="en-US" smtClean="0"/>
              <a:pPr/>
              <a:t>8/24/2026</a:t>
            </a:fld>
            <a:endParaRPr lang="en-US" dirty="0"/>
          </a:p>
        </p:txBody>
      </p:sp>
      <p:sp>
        <p:nvSpPr>
          <p:cNvPr id="5" name="Footer Placeholder 4"/>
          <p:cNvSpPr>
            <a:spLocks noGrp="1"/>
          </p:cNvSpPr>
          <p:nvPr>
            <p:ph type="ftr" sz="quarter" idx="11"/>
          </p:nvPr>
        </p:nvSpPr>
        <p:spPr/>
        <p:txBody>
          <a:bodyPr/>
          <a:lstStyle/>
          <a:p>
            <a:r>
              <a:rPr lang="en-US"/>
              <a:t>KMC-HUMANITIES AND SOCIAL SCIENCE DEPARTMENT</a:t>
            </a:r>
          </a:p>
        </p:txBody>
      </p:sp>
      <p:sp>
        <p:nvSpPr>
          <p:cNvPr id="6" name="Slide Number Placeholder 5"/>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3593837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139056-86EE-422A-8025-9F2A1E32468A}" type="datetime1">
              <a:rPr lang="en-US" smtClean="0"/>
              <a:pPr/>
              <a:t>8/24/2026</a:t>
            </a:fld>
            <a:endParaRPr lang="en-US"/>
          </a:p>
        </p:txBody>
      </p:sp>
      <p:sp>
        <p:nvSpPr>
          <p:cNvPr id="5" name="Footer Placeholder 4"/>
          <p:cNvSpPr>
            <a:spLocks noGrp="1"/>
          </p:cNvSpPr>
          <p:nvPr>
            <p:ph type="ftr" sz="quarter" idx="11"/>
          </p:nvPr>
        </p:nvSpPr>
        <p:spPr/>
        <p:txBody>
          <a:bodyPr/>
          <a:lstStyle/>
          <a:p>
            <a:r>
              <a:rPr lang="en-US"/>
              <a:t>KMC-HUMANITIES AND SOCIAL SCIENCE DEPARTMENT</a:t>
            </a:r>
          </a:p>
        </p:txBody>
      </p:sp>
      <p:sp>
        <p:nvSpPr>
          <p:cNvPr id="6" name="Slide Number Placeholder 5"/>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856665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00BF51-F857-4CB1-B436-A9FDF79A86A0}" type="datetime1">
              <a:rPr lang="en-US" smtClean="0"/>
              <a:pPr/>
              <a:t>8/24/2026</a:t>
            </a:fld>
            <a:endParaRPr lang="en-US"/>
          </a:p>
        </p:txBody>
      </p:sp>
      <p:sp>
        <p:nvSpPr>
          <p:cNvPr id="6" name="Footer Placeholder 5"/>
          <p:cNvSpPr>
            <a:spLocks noGrp="1"/>
          </p:cNvSpPr>
          <p:nvPr>
            <p:ph type="ftr" sz="quarter" idx="11"/>
          </p:nvPr>
        </p:nvSpPr>
        <p:spPr/>
        <p:txBody>
          <a:bodyPr/>
          <a:lstStyle/>
          <a:p>
            <a:r>
              <a:rPr lang="en-US"/>
              <a:t>KMC-HUMANITIES AND SOCIAL SCIENCE DEPARTMENT</a:t>
            </a:r>
          </a:p>
        </p:txBody>
      </p:sp>
      <p:sp>
        <p:nvSpPr>
          <p:cNvPr id="7" name="Slide Number Placeholder 6"/>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373145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FED827-1E77-4696-B498-D9C05962324C}" type="datetime1">
              <a:rPr lang="en-US" smtClean="0"/>
              <a:pPr/>
              <a:t>8/24/2026</a:t>
            </a:fld>
            <a:endParaRPr lang="en-US"/>
          </a:p>
        </p:txBody>
      </p:sp>
      <p:sp>
        <p:nvSpPr>
          <p:cNvPr id="8" name="Footer Placeholder 7"/>
          <p:cNvSpPr>
            <a:spLocks noGrp="1"/>
          </p:cNvSpPr>
          <p:nvPr>
            <p:ph type="ftr" sz="quarter" idx="11"/>
          </p:nvPr>
        </p:nvSpPr>
        <p:spPr/>
        <p:txBody>
          <a:bodyPr/>
          <a:lstStyle/>
          <a:p>
            <a:r>
              <a:rPr lang="en-US"/>
              <a:t>KMC-HUMANITIES AND SOCIAL SCIENCE DEPARTMENT</a:t>
            </a:r>
          </a:p>
        </p:txBody>
      </p:sp>
      <p:sp>
        <p:nvSpPr>
          <p:cNvPr id="9" name="Slide Number Placeholder 8"/>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2884608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9B35CA-3D14-4AFE-A37E-B035859111BF}" type="datetime1">
              <a:rPr lang="en-US" smtClean="0"/>
              <a:pPr/>
              <a:t>8/24/2026</a:t>
            </a:fld>
            <a:endParaRPr lang="en-US"/>
          </a:p>
        </p:txBody>
      </p:sp>
      <p:sp>
        <p:nvSpPr>
          <p:cNvPr id="4" name="Footer Placeholder 3"/>
          <p:cNvSpPr>
            <a:spLocks noGrp="1"/>
          </p:cNvSpPr>
          <p:nvPr>
            <p:ph type="ftr" sz="quarter" idx="11"/>
          </p:nvPr>
        </p:nvSpPr>
        <p:spPr/>
        <p:txBody>
          <a:bodyPr/>
          <a:lstStyle/>
          <a:p>
            <a:r>
              <a:rPr lang="en-US"/>
              <a:t>KMC-HUMANITIES AND SOCIAL SCIENCE DEPARTMENT</a:t>
            </a:r>
          </a:p>
        </p:txBody>
      </p:sp>
      <p:sp>
        <p:nvSpPr>
          <p:cNvPr id="5" name="Slide Number Placeholder 4"/>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2564345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462F9F-2E43-4E57-A32A-2FB0B725C17B}" type="datetime1">
              <a:rPr lang="en-US" smtClean="0"/>
              <a:pPr/>
              <a:t>8/24/2026</a:t>
            </a:fld>
            <a:endParaRPr lang="en-US"/>
          </a:p>
        </p:txBody>
      </p:sp>
      <p:sp>
        <p:nvSpPr>
          <p:cNvPr id="3" name="Footer Placeholder 2"/>
          <p:cNvSpPr>
            <a:spLocks noGrp="1"/>
          </p:cNvSpPr>
          <p:nvPr>
            <p:ph type="ftr" sz="quarter" idx="11"/>
          </p:nvPr>
        </p:nvSpPr>
        <p:spPr/>
        <p:txBody>
          <a:bodyPr/>
          <a:lstStyle/>
          <a:p>
            <a:r>
              <a:rPr lang="en-US"/>
              <a:t>KMC-HUMANITIES AND SOCIAL SCIENCE DEPARTMENT</a:t>
            </a:r>
          </a:p>
        </p:txBody>
      </p:sp>
      <p:sp>
        <p:nvSpPr>
          <p:cNvPr id="4" name="Slide Number Placeholder 3"/>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2736208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641619-84B1-44DC-85D5-C5E5E874D911}" type="datetime1">
              <a:rPr lang="en-US" smtClean="0"/>
              <a:pPr/>
              <a:t>8/24/2026</a:t>
            </a:fld>
            <a:endParaRPr lang="en-US"/>
          </a:p>
        </p:txBody>
      </p:sp>
      <p:sp>
        <p:nvSpPr>
          <p:cNvPr id="6" name="Footer Placeholder 5"/>
          <p:cNvSpPr>
            <a:spLocks noGrp="1"/>
          </p:cNvSpPr>
          <p:nvPr>
            <p:ph type="ftr" sz="quarter" idx="11"/>
          </p:nvPr>
        </p:nvSpPr>
        <p:spPr/>
        <p:txBody>
          <a:bodyPr/>
          <a:lstStyle/>
          <a:p>
            <a:r>
              <a:rPr lang="en-US"/>
              <a:t>KMC-HUMANITIES AND SOCIAL SCIENCE DEPARTMENT</a:t>
            </a:r>
          </a:p>
        </p:txBody>
      </p:sp>
      <p:sp>
        <p:nvSpPr>
          <p:cNvPr id="7" name="Slide Number Placeholder 6"/>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2865210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28B3F0-86C3-436A-B1C3-042FA774701A}" type="datetime1">
              <a:rPr lang="en-US" smtClean="0"/>
              <a:pPr/>
              <a:t>8/24/2026</a:t>
            </a:fld>
            <a:endParaRPr lang="en-US"/>
          </a:p>
        </p:txBody>
      </p:sp>
      <p:sp>
        <p:nvSpPr>
          <p:cNvPr id="6" name="Footer Placeholder 5"/>
          <p:cNvSpPr>
            <a:spLocks noGrp="1"/>
          </p:cNvSpPr>
          <p:nvPr>
            <p:ph type="ftr" sz="quarter" idx="11"/>
          </p:nvPr>
        </p:nvSpPr>
        <p:spPr/>
        <p:txBody>
          <a:bodyPr/>
          <a:lstStyle/>
          <a:p>
            <a:r>
              <a:rPr lang="en-US"/>
              <a:t>KMC-HUMANITIES AND SOCIAL SCIENCE DEPARTMENT</a:t>
            </a:r>
          </a:p>
        </p:txBody>
      </p:sp>
      <p:sp>
        <p:nvSpPr>
          <p:cNvPr id="7" name="Slide Number Placeholder 6"/>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197775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ECCA51-ED78-45CA-9D2C-282A7FAEFB15}" type="datetime1">
              <a:rPr lang="en-US" smtClean="0"/>
              <a:pPr/>
              <a:t>8/24/2026</a:t>
            </a:fld>
            <a:endParaRPr lang="en-US" dirty="0"/>
          </a:p>
        </p:txBody>
      </p:sp>
      <p:sp>
        <p:nvSpPr>
          <p:cNvPr id="5" name="Footer Placeholder 4"/>
          <p:cNvSpPr>
            <a:spLocks noGrp="1"/>
          </p:cNvSpPr>
          <p:nvPr>
            <p:ph type="ftr" sz="quarter" idx="11"/>
          </p:nvPr>
        </p:nvSpPr>
        <p:spPr/>
        <p:txBody>
          <a:bodyPr/>
          <a:lstStyle/>
          <a:p>
            <a:r>
              <a:rPr lang="en-US"/>
              <a:t>KMC-HUMANITIES AND SOCIAL SCIENCE DEPARTMENT</a:t>
            </a:r>
          </a:p>
        </p:txBody>
      </p:sp>
      <p:sp>
        <p:nvSpPr>
          <p:cNvPr id="6" name="Slide Number Placeholder 5"/>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93129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EAF94A-70E8-4C84-BC9D-E433BA166F56}" type="datetime1">
              <a:rPr lang="en-US" smtClean="0"/>
              <a:pPr/>
              <a:t>8/24/2026</a:t>
            </a:fld>
            <a:endParaRPr lang="en-US" dirty="0"/>
          </a:p>
        </p:txBody>
      </p:sp>
      <p:sp>
        <p:nvSpPr>
          <p:cNvPr id="5" name="Footer Placeholder 4"/>
          <p:cNvSpPr>
            <a:spLocks noGrp="1"/>
          </p:cNvSpPr>
          <p:nvPr>
            <p:ph type="ftr" sz="quarter" idx="11"/>
          </p:nvPr>
        </p:nvSpPr>
        <p:spPr/>
        <p:txBody>
          <a:bodyPr/>
          <a:lstStyle/>
          <a:p>
            <a:r>
              <a:rPr lang="en-US"/>
              <a:t>KMC-HUMANITIES AND SOCIAL SCIENCE DEPARTMENT</a:t>
            </a:r>
          </a:p>
        </p:txBody>
      </p:sp>
      <p:sp>
        <p:nvSpPr>
          <p:cNvPr id="6" name="Slide Number Placeholder 5"/>
          <p:cNvSpPr>
            <a:spLocks noGrp="1"/>
          </p:cNvSpPr>
          <p:nvPr>
            <p:ph type="sldNum" sz="quarter" idx="12"/>
          </p:nvPr>
        </p:nvSpPr>
        <p:spPr/>
        <p:txBody>
          <a:bodyPr/>
          <a:lstStyle/>
          <a:p>
            <a:fld id="{E1076ED0-0DB3-4879-AAE5-5C20D22C1DF4}"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62374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A1ECA9-4F25-48B9-B87D-611EA2A9920C}" type="datetime1">
              <a:rPr lang="en-US" smtClean="0"/>
              <a:pPr/>
              <a:t>8/24/2026</a:t>
            </a:fld>
            <a:endParaRPr lang="en-US" dirty="0"/>
          </a:p>
        </p:txBody>
      </p:sp>
      <p:sp>
        <p:nvSpPr>
          <p:cNvPr id="5" name="Footer Placeholder 4"/>
          <p:cNvSpPr>
            <a:spLocks noGrp="1"/>
          </p:cNvSpPr>
          <p:nvPr>
            <p:ph type="ftr" sz="quarter" idx="11"/>
          </p:nvPr>
        </p:nvSpPr>
        <p:spPr/>
        <p:txBody>
          <a:bodyPr/>
          <a:lstStyle/>
          <a:p>
            <a:r>
              <a:rPr lang="en-US"/>
              <a:t>KMC-HUMANITIES AND SOCIAL SCIENCE DEPARTMENT</a:t>
            </a:r>
          </a:p>
        </p:txBody>
      </p:sp>
      <p:sp>
        <p:nvSpPr>
          <p:cNvPr id="6" name="Slide Number Placeholder 5"/>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302467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492E67-2B18-4FC7-AAD4-2D03FE2B8E8C}" type="datetime1">
              <a:rPr lang="en-US" smtClean="0"/>
              <a:pPr/>
              <a:t>8/24/2026</a:t>
            </a:fld>
            <a:endParaRPr lang="en-US" dirty="0"/>
          </a:p>
        </p:txBody>
      </p:sp>
      <p:sp>
        <p:nvSpPr>
          <p:cNvPr id="5" name="Footer Placeholder 4"/>
          <p:cNvSpPr>
            <a:spLocks noGrp="1"/>
          </p:cNvSpPr>
          <p:nvPr>
            <p:ph type="ftr" sz="quarter" idx="11"/>
          </p:nvPr>
        </p:nvSpPr>
        <p:spPr/>
        <p:txBody>
          <a:bodyPr/>
          <a:lstStyle/>
          <a:p>
            <a:r>
              <a:rPr lang="en-US"/>
              <a:t>KMC-HUMANITIES AND SOCIAL SCIENCE DEPARTMENT</a:t>
            </a:r>
          </a:p>
        </p:txBody>
      </p:sp>
      <p:sp>
        <p:nvSpPr>
          <p:cNvPr id="6" name="Slide Number Placeholder 5"/>
          <p:cNvSpPr>
            <a:spLocks noGrp="1"/>
          </p:cNvSpPr>
          <p:nvPr>
            <p:ph type="sldNum" sz="quarter" idx="12"/>
          </p:nvPr>
        </p:nvSpPr>
        <p:spPr/>
        <p:txBody>
          <a:bodyPr/>
          <a:lstStyle/>
          <a:p>
            <a:fld id="{E1076ED0-0DB3-4879-AAE5-5C20D22C1DF4}"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440858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DE0181-BBEB-4AED-956A-6FBC82D8A429}" type="datetime1">
              <a:rPr lang="en-US" smtClean="0"/>
              <a:pPr/>
              <a:t>8/24/2026</a:t>
            </a:fld>
            <a:endParaRPr lang="en-US" dirty="0"/>
          </a:p>
        </p:txBody>
      </p:sp>
      <p:sp>
        <p:nvSpPr>
          <p:cNvPr id="5" name="Footer Placeholder 4"/>
          <p:cNvSpPr>
            <a:spLocks noGrp="1"/>
          </p:cNvSpPr>
          <p:nvPr>
            <p:ph type="ftr" sz="quarter" idx="11"/>
          </p:nvPr>
        </p:nvSpPr>
        <p:spPr/>
        <p:txBody>
          <a:bodyPr/>
          <a:lstStyle/>
          <a:p>
            <a:r>
              <a:rPr lang="en-US"/>
              <a:t>KMC-HUMANITIES AND SOCIAL SCIENCE DEPARTMENT</a:t>
            </a:r>
          </a:p>
        </p:txBody>
      </p:sp>
      <p:sp>
        <p:nvSpPr>
          <p:cNvPr id="6" name="Slide Number Placeholder 5"/>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7736359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4030AF-3658-41A7-922F-26B1C3FF6686}" type="datetime1">
              <a:rPr lang="en-US" smtClean="0"/>
              <a:pPr/>
              <a:t>8/24/2026</a:t>
            </a:fld>
            <a:endParaRPr lang="en-US"/>
          </a:p>
        </p:txBody>
      </p:sp>
      <p:sp>
        <p:nvSpPr>
          <p:cNvPr id="5" name="Footer Placeholder 4"/>
          <p:cNvSpPr>
            <a:spLocks noGrp="1"/>
          </p:cNvSpPr>
          <p:nvPr>
            <p:ph type="ftr" sz="quarter" idx="11"/>
          </p:nvPr>
        </p:nvSpPr>
        <p:spPr/>
        <p:txBody>
          <a:bodyPr/>
          <a:lstStyle/>
          <a:p>
            <a:r>
              <a:rPr lang="en-US"/>
              <a:t>KMC-HUMANITIES AND SOCIAL SCIENCE DEPARTMENT</a:t>
            </a:r>
          </a:p>
        </p:txBody>
      </p:sp>
      <p:sp>
        <p:nvSpPr>
          <p:cNvPr id="6" name="Slide Number Placeholder 5"/>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23439888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6DEC0E-46F4-46B7-B28E-A30BB813A4C1}" type="datetime1">
              <a:rPr lang="en-US" smtClean="0"/>
              <a:pPr/>
              <a:t>8/24/2026</a:t>
            </a:fld>
            <a:endParaRPr lang="en-US"/>
          </a:p>
        </p:txBody>
      </p:sp>
      <p:sp>
        <p:nvSpPr>
          <p:cNvPr id="5" name="Footer Placeholder 4"/>
          <p:cNvSpPr>
            <a:spLocks noGrp="1"/>
          </p:cNvSpPr>
          <p:nvPr>
            <p:ph type="ftr" sz="quarter" idx="11"/>
          </p:nvPr>
        </p:nvSpPr>
        <p:spPr/>
        <p:txBody>
          <a:bodyPr/>
          <a:lstStyle/>
          <a:p>
            <a:r>
              <a:rPr lang="en-US"/>
              <a:t>KMC-HUMANITIES AND SOCIAL SCIENCE DEPARTMENT</a:t>
            </a:r>
          </a:p>
        </p:txBody>
      </p:sp>
      <p:sp>
        <p:nvSpPr>
          <p:cNvPr id="6" name="Slide Number Placeholder 5"/>
          <p:cNvSpPr>
            <a:spLocks noGrp="1"/>
          </p:cNvSpPr>
          <p:nvPr>
            <p:ph type="sldNum" sz="quarter" idx="12"/>
          </p:nvPr>
        </p:nvSpPr>
        <p:spPr/>
        <p:txBody>
          <a:bodyPr/>
          <a:lstStyle/>
          <a:p>
            <a:fld id="{E1076ED0-0DB3-4879-AAE5-5C20D22C1DF4}" type="slidenum">
              <a:rPr lang="en-US" smtClean="0"/>
              <a:pPr/>
              <a:t>‹#›</a:t>
            </a:fld>
            <a:endParaRPr lang="en-US"/>
          </a:p>
        </p:txBody>
      </p:sp>
    </p:spTree>
    <p:extLst>
      <p:ext uri="{BB962C8B-B14F-4D97-AF65-F5344CB8AC3E}">
        <p14:creationId xmlns:p14="http://schemas.microsoft.com/office/powerpoint/2010/main" val="4103395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D6291C0-A6E7-4346-AAFD-10249D7EFA04}" type="datetime1">
              <a:rPr lang="en-US" smtClean="0"/>
              <a:pPr/>
              <a:t>8/24/2026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KMC-HUMANITIES AND SOCIAL SCIENCE DEPARTMENT</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1076ED0-0DB3-4879-AAE5-5C20D22C1DF4}" type="slidenum">
              <a:rPr lang="en-US" smtClean="0"/>
              <a:pPr/>
              <a:t>‹#›</a:t>
            </a:fld>
            <a:endParaRPr lang="en-US"/>
          </a:p>
        </p:txBody>
      </p:sp>
    </p:spTree>
    <p:extLst>
      <p:ext uri="{BB962C8B-B14F-4D97-AF65-F5344CB8AC3E}">
        <p14:creationId xmlns:p14="http://schemas.microsoft.com/office/powerpoint/2010/main" val="234615955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2D56C29A-7B98-48D5-B0C9-873532CA70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7411"/>
            <a:ext cx="11239500" cy="7095171"/>
          </a:xfrm>
          <a:prstGeom prst="rect">
            <a:avLst/>
          </a:prstGeom>
        </p:spPr>
      </p:pic>
      <p:sp>
        <p:nvSpPr>
          <p:cNvPr id="3" name="Footer Placeholder 2">
            <a:extLst>
              <a:ext uri="{FF2B5EF4-FFF2-40B4-BE49-F238E27FC236}">
                <a16:creationId xmlns:a16="http://schemas.microsoft.com/office/drawing/2014/main" xmlns="" id="{5FDCFA56-39B2-4602-B5EE-90D8BE370750}"/>
              </a:ext>
            </a:extLst>
          </p:cNvPr>
          <p:cNvSpPr>
            <a:spLocks noGrp="1"/>
          </p:cNvSpPr>
          <p:nvPr>
            <p:ph type="ftr" sz="quarter" idx="11"/>
          </p:nvPr>
        </p:nvSpPr>
        <p:spPr>
          <a:xfrm>
            <a:off x="0" y="6427442"/>
            <a:ext cx="6197600" cy="278158"/>
          </a:xfrm>
        </p:spPr>
        <p:txBody>
          <a:bodyPr/>
          <a:lstStyle/>
          <a:p>
            <a:r>
              <a:rPr lang="en-US" sz="2000" dirty="0">
                <a:solidFill>
                  <a:schemeClr val="bg1">
                    <a:lumMod val="95000"/>
                  </a:schemeClr>
                </a:solidFill>
              </a:rPr>
              <a:t>KMC-HUMANITIES AND SOCIAL SCIENCE DEPARTMENT</a:t>
            </a:r>
          </a:p>
        </p:txBody>
      </p:sp>
      <p:sp>
        <p:nvSpPr>
          <p:cNvPr id="9" name="Title 8"/>
          <p:cNvSpPr>
            <a:spLocks noGrp="1"/>
          </p:cNvSpPr>
          <p:nvPr>
            <p:ph type="title"/>
          </p:nvPr>
        </p:nvSpPr>
        <p:spPr>
          <a:xfrm>
            <a:off x="0" y="-224413"/>
            <a:ext cx="11224008" cy="1320800"/>
          </a:xfrm>
        </p:spPr>
        <p:txBody>
          <a:bodyPr/>
          <a:lstStyle/>
          <a:p>
            <a:pPr algn="ctr"/>
            <a:r>
              <a:rPr lang="en-US" dirty="0" smtClean="0">
                <a:solidFill>
                  <a:schemeClr val="bg1"/>
                </a:solidFill>
                <a:latin typeface="Times New Roman" pitchFamily="18" charset="0"/>
                <a:cs typeface="Times New Roman" pitchFamily="18" charset="0"/>
              </a:rPr>
              <a:t>KAPILVASTU MULTIPLE CAMPUS, TAULIHAWA, KAPILVASTU</a:t>
            </a:r>
            <a:endParaRPr lang="en-US" dirty="0">
              <a:solidFill>
                <a:schemeClr val="bg1"/>
              </a:solidFill>
              <a:latin typeface="Times New Roman" pitchFamily="18" charset="0"/>
              <a:cs typeface="Times New Roman" pitchFamily="18" charset="0"/>
            </a:endParaRPr>
          </a:p>
        </p:txBody>
      </p:sp>
      <p:sp>
        <p:nvSpPr>
          <p:cNvPr id="10" name="Title 8"/>
          <p:cNvSpPr txBox="1">
            <a:spLocks/>
          </p:cNvSpPr>
          <p:nvPr/>
        </p:nvSpPr>
        <p:spPr>
          <a:xfrm>
            <a:off x="0" y="1215851"/>
            <a:ext cx="11224008" cy="4491613"/>
          </a:xfrm>
          <a:prstGeom prst="rect">
            <a:avLst/>
          </a:prstGeom>
        </p:spPr>
        <p:txBody>
          <a:bodyPr vert="horz" lIns="91440" tIns="45720" rIns="91440" bIns="45720" rtlCol="0" anchor="t">
            <a:normAutofit fontScale="92500" lnSpcReduction="20000"/>
          </a:bodyPr>
          <a:lstStyle/>
          <a:p>
            <a:pPr marL="0" marR="0" lvl="0" indent="0" algn="ctr" defTabSz="457200" rtl="0" eaLnBrk="1" fontAlgn="auto" latinLnBrk="0" hangingPunct="1">
              <a:lnSpc>
                <a:spcPct val="100000"/>
              </a:lnSpc>
              <a:spcBef>
                <a:spcPct val="0"/>
              </a:spcBef>
              <a:spcAft>
                <a:spcPts val="0"/>
              </a:spcAft>
              <a:buClrTx/>
              <a:buSzTx/>
              <a:buFontTx/>
              <a:buNone/>
              <a:tabLst/>
              <a:defRPr/>
            </a:pPr>
            <a:endParaRPr kumimoji="0" lang="en-US" sz="3600" b="0" i="0" u="none" strike="noStrike" kern="1200" cap="none" spc="0" normalizeH="0" baseline="0" noProof="0" dirty="0" smtClean="0">
              <a:ln>
                <a:noFill/>
              </a:ln>
              <a:solidFill>
                <a:schemeClr val="bg1"/>
              </a:solidFill>
              <a:effectLst/>
              <a:uLnTx/>
              <a:uFillTx/>
              <a:latin typeface="Times New Roman" pitchFamily="18" charset="0"/>
              <a:ea typeface="+mj-ea"/>
              <a:cs typeface="Times New Roman" pitchFamily="18" charset="0"/>
            </a:endParaRPr>
          </a:p>
          <a:p>
            <a:pPr marL="0" marR="0" lvl="0" indent="0" algn="ctr" defTabSz="457200" rtl="0" eaLnBrk="1" fontAlgn="auto" latinLnBrk="0" hangingPunct="1">
              <a:lnSpc>
                <a:spcPct val="100000"/>
              </a:lnSpc>
              <a:spcBef>
                <a:spcPct val="0"/>
              </a:spcBef>
              <a:spcAft>
                <a:spcPts val="0"/>
              </a:spcAft>
              <a:buClrTx/>
              <a:buSzTx/>
              <a:buFontTx/>
              <a:buNone/>
              <a:tabLst/>
              <a:defRPr/>
            </a:pPr>
            <a:endParaRPr lang="en-US" sz="3600" dirty="0" smtClean="0">
              <a:solidFill>
                <a:schemeClr val="bg1"/>
              </a:solidFill>
              <a:latin typeface="Times New Roman" pitchFamily="18" charset="0"/>
              <a:ea typeface="+mj-ea"/>
              <a:cs typeface="Times New Roman" pitchFamily="18" charset="0"/>
            </a:endParaRPr>
          </a:p>
          <a:p>
            <a:pPr algn="ctr">
              <a:spcBef>
                <a:spcPct val="0"/>
              </a:spcBef>
              <a:defRPr/>
            </a:pPr>
            <a:r>
              <a:rPr lang="en-US" sz="3600" dirty="0" smtClean="0">
                <a:solidFill>
                  <a:schemeClr val="bg1"/>
                </a:solidFill>
                <a:latin typeface="Times New Roman" pitchFamily="18" charset="0"/>
                <a:cs typeface="Times New Roman" pitchFamily="18" charset="0"/>
              </a:rPr>
              <a:t>KMC-HUMANITIES &amp; SOCIAL SCIENCE</a:t>
            </a:r>
          </a:p>
          <a:p>
            <a:pPr marL="0" marR="0" lvl="0" indent="0" algn="ctr" defTabSz="457200" rtl="0" eaLnBrk="1" fontAlgn="auto" latinLnBrk="0" hangingPunct="1">
              <a:lnSpc>
                <a:spcPct val="100000"/>
              </a:lnSpc>
              <a:spcBef>
                <a:spcPct val="0"/>
              </a:spcBef>
              <a:spcAft>
                <a:spcPts val="0"/>
              </a:spcAft>
              <a:buClrTx/>
              <a:buSzTx/>
              <a:buFontTx/>
              <a:buNone/>
              <a:tabLst/>
              <a:defRPr/>
            </a:pPr>
            <a:endParaRPr lang="en-US" sz="3600" dirty="0" smtClean="0">
              <a:solidFill>
                <a:schemeClr val="bg1"/>
              </a:solidFill>
              <a:latin typeface="Times New Roman" pitchFamily="18" charset="0"/>
              <a:ea typeface="+mj-ea"/>
              <a:cs typeface="Times New Roman" pitchFamily="18" charset="0"/>
            </a:endParaRPr>
          </a:p>
          <a:p>
            <a:pPr marL="0" marR="0" lvl="0" indent="0" algn="ctr" defTabSz="457200" rtl="0" eaLnBrk="1" fontAlgn="auto" latinLnBrk="0" hangingPunct="1">
              <a:lnSpc>
                <a:spcPct val="100000"/>
              </a:lnSpc>
              <a:spcBef>
                <a:spcPct val="0"/>
              </a:spcBef>
              <a:spcAft>
                <a:spcPts val="0"/>
              </a:spcAft>
              <a:buClrTx/>
              <a:buSzTx/>
              <a:buFontTx/>
              <a:buNone/>
              <a:tabLst/>
              <a:defRPr/>
            </a:pPr>
            <a:endParaRPr kumimoji="0" lang="en-US" sz="3600" b="0" i="0" u="none" strike="noStrike" kern="1200" cap="none" spc="0" normalizeH="0" baseline="0" noProof="0" dirty="0" smtClean="0">
              <a:ln>
                <a:noFill/>
              </a:ln>
              <a:solidFill>
                <a:schemeClr val="bg1"/>
              </a:solidFill>
              <a:effectLst/>
              <a:uLnTx/>
              <a:uFillTx/>
              <a:latin typeface="Times New Roman" pitchFamily="18" charset="0"/>
              <a:ea typeface="+mj-ea"/>
              <a:cs typeface="Times New Roman" pitchFamily="18" charset="0"/>
            </a:endParaRPr>
          </a:p>
          <a:p>
            <a:pPr marL="0" marR="0" lvl="0" indent="0" algn="ctr" defTabSz="457200" rtl="0" eaLnBrk="1" fontAlgn="auto" latinLnBrk="0" hangingPunct="1">
              <a:lnSpc>
                <a:spcPct val="100000"/>
              </a:lnSpc>
              <a:spcBef>
                <a:spcPct val="0"/>
              </a:spcBef>
              <a:spcAft>
                <a:spcPts val="0"/>
              </a:spcAft>
              <a:buClrTx/>
              <a:buSzTx/>
              <a:buFontTx/>
              <a:buNone/>
              <a:tabLst/>
              <a:defRPr/>
            </a:pPr>
            <a:endParaRPr lang="en-US" sz="3600" dirty="0" smtClean="0">
              <a:solidFill>
                <a:schemeClr val="bg1"/>
              </a:solidFill>
              <a:latin typeface="Times New Roman" pitchFamily="18" charset="0"/>
              <a:ea typeface="+mj-ea"/>
              <a:cs typeface="Times New Roman" pitchFamily="18" charset="0"/>
            </a:endParaRPr>
          </a:p>
          <a:p>
            <a:pPr marL="0" marR="0" lvl="0" indent="0" algn="ctr" defTabSz="457200" rtl="0" eaLnBrk="1" fontAlgn="auto" latinLnBrk="0" hangingPunct="1">
              <a:lnSpc>
                <a:spcPct val="100000"/>
              </a:lnSpc>
              <a:spcBef>
                <a:spcPct val="0"/>
              </a:spcBef>
              <a:spcAft>
                <a:spcPts val="0"/>
              </a:spcAft>
              <a:buClrTx/>
              <a:buSzTx/>
              <a:buFontTx/>
              <a:buNone/>
              <a:tabLst/>
              <a:defRPr/>
            </a:pPr>
            <a:endParaRPr kumimoji="0" lang="en-US" sz="3600" b="0" i="0" u="none" strike="noStrike" kern="1200" cap="none" spc="0" normalizeH="0" baseline="0" noProof="0" dirty="0" smtClean="0">
              <a:ln>
                <a:noFill/>
              </a:ln>
              <a:solidFill>
                <a:schemeClr val="bg1"/>
              </a:solidFill>
              <a:effectLst/>
              <a:uLnTx/>
              <a:uFillTx/>
              <a:latin typeface="Times New Roman" pitchFamily="18" charset="0"/>
              <a:ea typeface="+mj-ea"/>
              <a:cs typeface="Times New Roman" pitchFamily="18" charset="0"/>
            </a:endParaRPr>
          </a:p>
          <a:p>
            <a:pPr marL="0" marR="0" lvl="0" indent="0" algn="ctr" defTabSz="457200" rtl="0" eaLnBrk="1" fontAlgn="auto" latinLnBrk="0" hangingPunct="1">
              <a:lnSpc>
                <a:spcPct val="100000"/>
              </a:lnSpc>
              <a:spcBef>
                <a:spcPct val="0"/>
              </a:spcBef>
              <a:spcAft>
                <a:spcPts val="0"/>
              </a:spcAft>
              <a:buClrTx/>
              <a:buSzTx/>
              <a:buFontTx/>
              <a:buNone/>
              <a:tabLst/>
              <a:defRPr/>
            </a:pPr>
            <a:endParaRPr lang="en-US" sz="3600" dirty="0" smtClean="0">
              <a:solidFill>
                <a:schemeClr val="bg1"/>
              </a:solidFill>
              <a:latin typeface="Times New Roman" pitchFamily="18" charset="0"/>
              <a:ea typeface="+mj-ea"/>
              <a:cs typeface="Times New Roman" pitchFamily="18" charset="0"/>
            </a:endParaRPr>
          </a:p>
          <a:p>
            <a:pPr marL="0" marR="0" lvl="0" indent="0" algn="ctr" defTabSz="457200" rtl="0" eaLnBrk="1" fontAlgn="auto" latinLnBrk="0" hangingPunct="1">
              <a:lnSpc>
                <a:spcPct val="100000"/>
              </a:lnSpc>
              <a:spcBef>
                <a:spcPct val="0"/>
              </a:spcBef>
              <a:spcAft>
                <a:spcPts val="0"/>
              </a:spcAft>
              <a:buClrTx/>
              <a:buSzTx/>
              <a:buFontTx/>
              <a:buNone/>
              <a:tabLst/>
              <a:defRPr/>
            </a:pPr>
            <a:endParaRPr kumimoji="0" lang="en-US" sz="3600" b="0" i="0" u="none" strike="noStrike" kern="1200" cap="none" spc="0" normalizeH="0" baseline="0" noProof="0" dirty="0" smtClean="0">
              <a:ln>
                <a:noFill/>
              </a:ln>
              <a:solidFill>
                <a:schemeClr val="bg1"/>
              </a:solidFill>
              <a:effectLst/>
              <a:uLnTx/>
              <a:uFillTx/>
              <a:latin typeface="Times New Roman" pitchFamily="18" charset="0"/>
              <a:ea typeface="+mj-ea"/>
              <a:cs typeface="Times New Roman" pitchFamily="18" charset="0"/>
            </a:endParaRPr>
          </a:p>
          <a:p>
            <a:pPr lvl="0" algn="ctr">
              <a:spcBef>
                <a:spcPct val="0"/>
              </a:spcBef>
              <a:defRPr/>
            </a:pPr>
            <a:r>
              <a:rPr lang="en-US" sz="3600" dirty="0" smtClean="0">
                <a:solidFill>
                  <a:schemeClr val="bg1"/>
                </a:solidFill>
                <a:latin typeface="Times New Roman" pitchFamily="18" charset="0"/>
                <a:cs typeface="Times New Roman" pitchFamily="18" charset="0"/>
              </a:rPr>
              <a:t>ACADEMIC PROGRAM FOR BACHELOR OF ART (B.A.)</a:t>
            </a:r>
          </a:p>
        </p:txBody>
      </p:sp>
    </p:spTree>
    <p:extLst>
      <p:ext uri="{BB962C8B-B14F-4D97-AF65-F5344CB8AC3E}">
        <p14:creationId xmlns:p14="http://schemas.microsoft.com/office/powerpoint/2010/main" val="27127124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C06973A-1CD2-4983-A1F9-4331AB9893DF}"/>
              </a:ext>
            </a:extLst>
          </p:cNvPr>
          <p:cNvSpPr>
            <a:spLocks noGrp="1"/>
          </p:cNvSpPr>
          <p:nvPr>
            <p:ph idx="1"/>
          </p:nvPr>
        </p:nvSpPr>
        <p:spPr>
          <a:xfrm>
            <a:off x="0" y="0"/>
            <a:ext cx="12192001" cy="7028821"/>
          </a:xfrm>
        </p:spPr>
        <p:txBody>
          <a:bodyPr>
            <a:normAutofit fontScale="92500"/>
          </a:bodyPr>
          <a:lstStyle/>
          <a:p>
            <a:pPr marL="0" indent="0">
              <a:buNone/>
            </a:pPr>
            <a:endParaRPr lang="en-US" b="1" u="sng" cap="all" dirty="0"/>
          </a:p>
          <a:p>
            <a:pPr marL="0" indent="0">
              <a:buNone/>
            </a:pPr>
            <a:r>
              <a:rPr lang="en-US" b="1" u="sng" cap="all" dirty="0"/>
              <a:t>FACULTY OF HUMANITIES AND SOCIAL SCIENCES</a:t>
            </a:r>
            <a:r>
              <a:rPr lang="en-US" cap="all" dirty="0"/>
              <a:t>          </a:t>
            </a:r>
          </a:p>
          <a:p>
            <a:pPr marL="0" indent="0" algn="just">
              <a:buNone/>
            </a:pPr>
            <a:r>
              <a:rPr lang="en-US" cap="all" dirty="0"/>
              <a:t>                     </a:t>
            </a:r>
            <a:r>
              <a:rPr lang="en-US" dirty="0"/>
              <a:t>Established with Kapilvastu Multiple Campus itself in 2019, the Faculty of Humanities and Social Sciences (FOHSS) is one of the Department in terms of number of students and range of programs and courses offered. </a:t>
            </a:r>
          </a:p>
          <a:p>
            <a:pPr marL="0" indent="0" algn="just">
              <a:buNone/>
            </a:pPr>
            <a:r>
              <a:rPr lang="en-US" dirty="0"/>
              <a:t>It has a mission of educating students and developing them into informed citizenry as well as producing quality human resources required for the nation. </a:t>
            </a:r>
          </a:p>
          <a:p>
            <a:pPr marL="0" indent="0" algn="just">
              <a:buNone/>
            </a:pPr>
            <a:r>
              <a:rPr lang="en-US" dirty="0"/>
              <a:t>In order to revitalize and upgrade humanities and social sciences education, FOHSS has prepared a strategic plan to move ahead with some specific vision, mission and goals identifying the areas of intervention.</a:t>
            </a:r>
          </a:p>
          <a:p>
            <a:pPr marL="0" indent="0">
              <a:buNone/>
            </a:pPr>
            <a:r>
              <a:rPr lang="en-US" b="1" dirty="0"/>
              <a:t>Vision, Mission and Goals</a:t>
            </a:r>
            <a:endParaRPr lang="en-US" dirty="0"/>
          </a:p>
          <a:p>
            <a:pPr algn="just"/>
            <a:r>
              <a:rPr lang="en-US" b="1" dirty="0"/>
              <a:t>Vision</a:t>
            </a:r>
            <a:r>
              <a:rPr lang="en-US" dirty="0"/>
              <a:t>: FOHSS as leading Faculty of KMC aims at being a widely recognized leading academic institution throughout the world in imparting quality education and offering relevant courses with integration of modern technology in teaching, learning and research. </a:t>
            </a:r>
          </a:p>
          <a:p>
            <a:pPr algn="just"/>
            <a:r>
              <a:rPr lang="en-US" b="1" dirty="0"/>
              <a:t>Mission</a:t>
            </a:r>
            <a:r>
              <a:rPr lang="en-US" dirty="0"/>
              <a:t>: FOHSS has the mission of educating students and developing them into informed citizenry as well as producing quality human resources required for the nation by offering relevant academic courses, developing new curricula, and creating friendly and conducive environment for learning and scholarship.</a:t>
            </a:r>
          </a:p>
          <a:p>
            <a:pPr algn="just"/>
            <a:r>
              <a:rPr lang="en-US" dirty="0"/>
              <a:t> </a:t>
            </a:r>
            <a:r>
              <a:rPr lang="en-US" b="1" dirty="0"/>
              <a:t>Goals</a:t>
            </a:r>
            <a:r>
              <a:rPr lang="en-US" dirty="0"/>
              <a:t>: Upgrade humanities and social sciences education through quality teaching/learning and research activities, including regular update of courses offered by FOHSS. Towards that goal, FOHSS has been offering course on number of disciplines in humanities and social sciences. The programs and courses are run through the Faculty of KMC and four year Bachelor level programs. FOHSS also offers courses on Humanities and Social Sciences, leading to Bachelor degree. These include English, Nepali, Sociology, Rural Development, Economics, Political Science and Philosophy. Additionally, Statistics and Mathematics, which belong to Humanities and Social Sciences. In fact, the Faculty offers Bachelor’s and  in future Master’s degrees, in most of the areas mentioned and the areas which are part of the liberal arts education. </a:t>
            </a:r>
          </a:p>
          <a:p>
            <a:pPr algn="just"/>
            <a:endParaRPr lang="en-US" dirty="0"/>
          </a:p>
          <a:p>
            <a:pPr marL="0" indent="0" algn="just">
              <a:buNone/>
            </a:pPr>
            <a:endParaRPr lang="en-US" dirty="0"/>
          </a:p>
        </p:txBody>
      </p:sp>
      <p:sp>
        <p:nvSpPr>
          <p:cNvPr id="2" name="Footer Placeholder 1">
            <a:extLst>
              <a:ext uri="{FF2B5EF4-FFF2-40B4-BE49-F238E27FC236}">
                <a16:creationId xmlns:a16="http://schemas.microsoft.com/office/drawing/2014/main" xmlns="" id="{EDA0488C-1849-4131-8AF5-9CEA1E78E60E}"/>
              </a:ext>
            </a:extLst>
          </p:cNvPr>
          <p:cNvSpPr>
            <a:spLocks noGrp="1"/>
          </p:cNvSpPr>
          <p:nvPr>
            <p:ph type="ftr" sz="quarter" idx="11"/>
          </p:nvPr>
        </p:nvSpPr>
        <p:spPr>
          <a:xfrm>
            <a:off x="5894388" y="0"/>
            <a:ext cx="6297612" cy="365125"/>
          </a:xfrm>
        </p:spPr>
        <p:txBody>
          <a:bodyPr/>
          <a:lstStyle/>
          <a:p>
            <a:pPr algn="r"/>
            <a:r>
              <a:rPr lang="en-US" sz="2000" dirty="0">
                <a:solidFill>
                  <a:schemeClr val="tx1"/>
                </a:solidFill>
              </a:rPr>
              <a:t>KMC-HUMANITIES AND SOCIAL SCIENCE DEPARTMENT</a:t>
            </a:r>
          </a:p>
        </p:txBody>
      </p:sp>
    </p:spTree>
    <p:extLst>
      <p:ext uri="{BB962C8B-B14F-4D97-AF65-F5344CB8AC3E}">
        <p14:creationId xmlns:p14="http://schemas.microsoft.com/office/powerpoint/2010/main" val="2684269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2C4AB6-3018-4E9C-91B6-E15ACEA8A511}"/>
              </a:ext>
            </a:extLst>
          </p:cNvPr>
          <p:cNvSpPr>
            <a:spLocks noGrp="1"/>
          </p:cNvSpPr>
          <p:nvPr>
            <p:ph type="title"/>
          </p:nvPr>
        </p:nvSpPr>
        <p:spPr>
          <a:xfrm>
            <a:off x="525718" y="-40641"/>
            <a:ext cx="11561507" cy="6351005"/>
          </a:xfrm>
        </p:spPr>
        <p:txBody>
          <a:bodyPr>
            <a:normAutofit fontScale="90000"/>
          </a:bodyPr>
          <a:lstStyle/>
          <a:p>
            <a:pPr algn="ctr"/>
            <a:r>
              <a:rPr lang="en-US" sz="2400" b="1" dirty="0" smtClean="0">
                <a:solidFill>
                  <a:schemeClr val="tx1"/>
                </a:solidFill>
                <a:latin typeface="Times New Roman" pitchFamily="18" charset="0"/>
                <a:cs typeface="Times New Roman" pitchFamily="18" charset="0"/>
              </a:rPr>
              <a:t/>
            </a:r>
            <a:br>
              <a:rPr lang="en-US" sz="2400" b="1" dirty="0" smtClean="0">
                <a:solidFill>
                  <a:schemeClr val="tx1"/>
                </a:solidFill>
                <a:latin typeface="Times New Roman" pitchFamily="18" charset="0"/>
                <a:cs typeface="Times New Roman" pitchFamily="18" charset="0"/>
              </a:rPr>
            </a:br>
            <a:r>
              <a:rPr lang="en-US" sz="3100" b="1" u="sng" dirty="0" smtClean="0">
                <a:solidFill>
                  <a:schemeClr val="tx1"/>
                </a:solidFill>
                <a:latin typeface="Times New Roman" pitchFamily="18" charset="0"/>
                <a:cs typeface="Times New Roman" pitchFamily="18" charset="0"/>
              </a:rPr>
              <a:t>Welcome-To-KMC-Humanities-And-Social-Science</a:t>
            </a:r>
            <a:r>
              <a:rPr lang="en-US" sz="3100" b="1" i="1" u="sng" dirty="0" smtClean="0">
                <a:solidFill>
                  <a:schemeClr val="tx1"/>
                </a:solidFill>
                <a:latin typeface="Times New Roman" pitchFamily="18" charset="0"/>
                <a:cs typeface="Times New Roman" pitchFamily="18" charset="0"/>
              </a:rPr>
              <a:t>:</a:t>
            </a:r>
            <a:r>
              <a:rPr lang="en-US" sz="2400" b="1" i="1" u="sng" dirty="0" smtClean="0">
                <a:solidFill>
                  <a:schemeClr val="tx1"/>
                </a:solidFill>
                <a:latin typeface="Times New Roman" pitchFamily="18" charset="0"/>
                <a:cs typeface="Times New Roman" pitchFamily="18" charset="0"/>
              </a:rPr>
              <a:t/>
            </a:r>
            <a:br>
              <a:rPr lang="en-US" sz="2400" b="1" i="1" u="sng" dirty="0" smtClean="0">
                <a:solidFill>
                  <a:schemeClr val="tx1"/>
                </a:solidFill>
                <a:latin typeface="Times New Roman" pitchFamily="18" charset="0"/>
                <a:cs typeface="Times New Roman" pitchFamily="18" charset="0"/>
              </a:rPr>
            </a:br>
            <a:r>
              <a:rPr lang="en-US" sz="2400" b="1" i="1" u="sng" dirty="0" smtClean="0">
                <a:solidFill>
                  <a:schemeClr val="tx1"/>
                </a:solidFill>
                <a:latin typeface="Times New Roman" pitchFamily="18" charset="0"/>
                <a:cs typeface="Times New Roman" pitchFamily="18" charset="0"/>
              </a:rPr>
              <a:t/>
            </a:r>
            <a:br>
              <a:rPr lang="en-US" sz="2400" b="1" i="1" u="sng" dirty="0" smtClean="0">
                <a:solidFill>
                  <a:schemeClr val="tx1"/>
                </a:solidFill>
                <a:latin typeface="Times New Roman" pitchFamily="18" charset="0"/>
                <a:cs typeface="Times New Roman" pitchFamily="18" charset="0"/>
              </a:rPr>
            </a:br>
            <a:r>
              <a:rPr lang="en-US" sz="2400" b="1" u="sng" dirty="0" smtClean="0">
                <a:solidFill>
                  <a:schemeClr val="tx1"/>
                </a:solidFill>
                <a:latin typeface="Times New Roman" pitchFamily="18" charset="0"/>
                <a:cs typeface="Times New Roman" pitchFamily="18" charset="0"/>
              </a:rPr>
              <a:t>Academic Department of Humanities &amp; Social Science</a:t>
            </a:r>
            <a:r>
              <a:rPr lang="en-US" sz="2400" b="1" dirty="0" smtClean="0">
                <a:solidFill>
                  <a:schemeClr val="tx1"/>
                </a:solidFill>
                <a:latin typeface="Times New Roman" pitchFamily="18" charset="0"/>
                <a:cs typeface="Times New Roman" pitchFamily="18" charset="0"/>
              </a:rPr>
              <a:t>:</a:t>
            </a:r>
            <a:br>
              <a:rPr lang="en-US" sz="2400" b="1" dirty="0" smtClean="0">
                <a:solidFill>
                  <a:schemeClr val="tx1"/>
                </a:solidFill>
                <a:latin typeface="Times New Roman" pitchFamily="18" charset="0"/>
                <a:cs typeface="Times New Roman" pitchFamily="18" charset="0"/>
              </a:rPr>
            </a:br>
            <a:r>
              <a:rPr lang="en-US" sz="1600" b="1" i="1" u="sng" dirty="0" smtClean="0">
                <a:solidFill>
                  <a:schemeClr val="tx1"/>
                </a:solidFill>
                <a:latin typeface="Times New Roman" pitchFamily="18" charset="0"/>
                <a:cs typeface="Times New Roman" pitchFamily="18" charset="0"/>
              </a:rPr>
              <a:t/>
            </a:r>
            <a:br>
              <a:rPr lang="en-US" sz="1600" b="1" i="1" u="sng"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1. Curriculum Development &amp; Review</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2. Course Delivery &amp; Instruction</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3. Student Support &amp; Advising</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4. Research &amp; Scholarship</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5. Quality Assurance &amp; Accreditation</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6. Community Engagement &amp; Collaboration</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7. Qualification &amp; Skill</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
            </a:r>
            <a:br>
              <a:rPr lang="en-US" sz="2400" b="1" dirty="0" smtClean="0">
                <a:solidFill>
                  <a:schemeClr val="tx1"/>
                </a:solidFill>
                <a:latin typeface="Times New Roman" pitchFamily="18" charset="0"/>
                <a:cs typeface="Times New Roman" pitchFamily="18" charset="0"/>
              </a:rPr>
            </a:br>
            <a:r>
              <a:rPr lang="en-US" sz="1600" b="1" i="1" u="sng" dirty="0" smtClean="0">
                <a:solidFill>
                  <a:schemeClr val="tx1"/>
                </a:solidFill>
                <a:latin typeface="Times New Roman" pitchFamily="18" charset="0"/>
                <a:cs typeface="Times New Roman" pitchFamily="18" charset="0"/>
              </a:rPr>
              <a:t/>
            </a:r>
            <a:br>
              <a:rPr lang="en-US" sz="1600" b="1" i="1" u="sng" dirty="0" smtClean="0">
                <a:solidFill>
                  <a:schemeClr val="tx1"/>
                </a:solidFill>
                <a:latin typeface="Times New Roman" pitchFamily="18" charset="0"/>
                <a:cs typeface="Times New Roman" pitchFamily="18" charset="0"/>
              </a:rPr>
            </a:br>
            <a:endParaRPr lang="en-US" sz="1800" b="1" dirty="0">
              <a:solidFill>
                <a:schemeClr val="tx1"/>
              </a:solidFill>
              <a:latin typeface="+mn-lt"/>
            </a:endParaRPr>
          </a:p>
        </p:txBody>
      </p:sp>
      <p:sp>
        <p:nvSpPr>
          <p:cNvPr id="4" name="Footer Placeholder 3">
            <a:extLst>
              <a:ext uri="{FF2B5EF4-FFF2-40B4-BE49-F238E27FC236}">
                <a16:creationId xmlns:a16="http://schemas.microsoft.com/office/drawing/2014/main" xmlns="" id="{15B8BE53-5E07-4CF2-B1F5-AC9CE760BF07}"/>
              </a:ext>
            </a:extLst>
          </p:cNvPr>
          <p:cNvSpPr>
            <a:spLocks noGrp="1"/>
          </p:cNvSpPr>
          <p:nvPr>
            <p:ph type="ftr" sz="quarter" idx="11"/>
          </p:nvPr>
        </p:nvSpPr>
        <p:spPr>
          <a:xfrm>
            <a:off x="0" y="6482079"/>
            <a:ext cx="9758786" cy="375919"/>
          </a:xfrm>
        </p:spPr>
        <p:txBody>
          <a:bodyPr/>
          <a:lstStyle/>
          <a:p>
            <a:r>
              <a:rPr lang="en-US" sz="2000" b="1" dirty="0">
                <a:solidFill>
                  <a:srgbClr val="C00000"/>
                </a:solidFill>
                <a:latin typeface="+mj-lt"/>
              </a:rPr>
              <a:t>KMC-HUMANITIES AND SOCIAL SCIENCE DEPARTMENT</a:t>
            </a:r>
          </a:p>
        </p:txBody>
      </p:sp>
    </p:spTree>
    <p:extLst>
      <p:ext uri="{BB962C8B-B14F-4D97-AF65-F5344CB8AC3E}">
        <p14:creationId xmlns:p14="http://schemas.microsoft.com/office/powerpoint/2010/main" val="349018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37D1E14-97B9-4822-BB09-3201D3703D7B}"/>
              </a:ext>
            </a:extLst>
          </p:cNvPr>
          <p:cNvSpPr>
            <a:spLocks noGrp="1"/>
          </p:cNvSpPr>
          <p:nvPr>
            <p:ph idx="1"/>
          </p:nvPr>
        </p:nvSpPr>
        <p:spPr>
          <a:xfrm>
            <a:off x="0" y="0"/>
            <a:ext cx="12191999" cy="6857999"/>
          </a:xfrm>
        </p:spPr>
        <p:txBody>
          <a:bodyPr>
            <a:noAutofit/>
          </a:bodyPr>
          <a:lstStyle/>
          <a:p>
            <a:pPr algn="just">
              <a:buNone/>
            </a:pPr>
            <a:endParaRPr lang="en-US" dirty="0" smtClean="0"/>
          </a:p>
          <a:p>
            <a:pPr algn="ctr">
              <a:buNone/>
            </a:pPr>
            <a:r>
              <a:rPr lang="en-US" sz="2400" b="1" dirty="0" smtClean="0">
                <a:solidFill>
                  <a:schemeClr val="tx1"/>
                </a:solidFill>
                <a:latin typeface="Times New Roman" pitchFamily="18" charset="0"/>
                <a:cs typeface="Times New Roman" pitchFamily="18" charset="0"/>
              </a:rPr>
              <a:t>1. </a:t>
            </a:r>
            <a:r>
              <a:rPr lang="en-US" sz="2400" dirty="0" smtClean="0">
                <a:solidFill>
                  <a:schemeClr val="tx1"/>
                </a:solidFill>
                <a:latin typeface="Times New Roman" pitchFamily="18" charset="0"/>
                <a:cs typeface="Times New Roman" pitchFamily="18" charset="0"/>
              </a:rPr>
              <a:t>Curriculum</a:t>
            </a:r>
            <a:r>
              <a:rPr lang="en-US" sz="2400" b="1" dirty="0" smtClean="0">
                <a:solidFill>
                  <a:schemeClr val="tx1"/>
                </a:solidFill>
                <a:latin typeface="Times New Roman" pitchFamily="18" charset="0"/>
                <a:cs typeface="Times New Roman" pitchFamily="18" charset="0"/>
              </a:rPr>
              <a:t> Development &amp; Review :</a:t>
            </a:r>
          </a:p>
          <a:p>
            <a:pPr>
              <a:buNone/>
            </a:pPr>
            <a:r>
              <a:rPr lang="en-US" sz="1600" b="1" dirty="0" smtClean="0">
                <a:solidFill>
                  <a:schemeClr val="tx1"/>
                </a:solidFill>
                <a:latin typeface="Times New Roman" pitchFamily="18" charset="0"/>
                <a:cs typeface="Times New Roman" pitchFamily="18" charset="0"/>
              </a:rPr>
              <a:t>--Interdisciplinary Approach</a:t>
            </a:r>
          </a:p>
          <a:p>
            <a:pPr>
              <a:buNone/>
            </a:pPr>
            <a:r>
              <a:rPr lang="en-US" sz="1600" b="1" dirty="0" smtClean="0">
                <a:solidFill>
                  <a:schemeClr val="tx1"/>
                </a:solidFill>
                <a:latin typeface="Times New Roman" pitchFamily="18" charset="0"/>
                <a:cs typeface="Times New Roman" pitchFamily="18" charset="0"/>
              </a:rPr>
              <a:t>--</a:t>
            </a:r>
            <a:r>
              <a:rPr lang="en-US" sz="1600" b="1" dirty="0" smtClean="0">
                <a:latin typeface="Times New Roman" pitchFamily="18" charset="0"/>
                <a:cs typeface="Times New Roman" pitchFamily="18" charset="0"/>
              </a:rPr>
              <a:t>Critical Thinking and Analysis</a:t>
            </a:r>
            <a:endParaRPr lang="en-US" sz="1600" dirty="0" smtClean="0">
              <a:latin typeface="Times New Roman" pitchFamily="18" charset="0"/>
              <a:cs typeface="Times New Roman" pitchFamily="18" charset="0"/>
            </a:endParaRPr>
          </a:p>
          <a:p>
            <a:pPr>
              <a:buNone/>
            </a:pPr>
            <a:r>
              <a:rPr lang="en-US" sz="1600" b="1" dirty="0" smtClean="0">
                <a:solidFill>
                  <a:schemeClr val="tx1"/>
                </a:solidFill>
                <a:latin typeface="Times New Roman" pitchFamily="18" charset="0"/>
                <a:cs typeface="Times New Roman" pitchFamily="18" charset="0"/>
              </a:rPr>
              <a:t>--</a:t>
            </a:r>
            <a:r>
              <a:rPr lang="en-US" sz="1600" b="1" dirty="0" smtClean="0">
                <a:latin typeface="Times New Roman" pitchFamily="18" charset="0"/>
                <a:cs typeface="Times New Roman" pitchFamily="18" charset="0"/>
              </a:rPr>
              <a:t>Research and Writing</a:t>
            </a:r>
          </a:p>
          <a:p>
            <a:pPr>
              <a:buNone/>
            </a:pPr>
            <a:r>
              <a:rPr lang="en-US" sz="1600" b="1" dirty="0" smtClean="0">
                <a:solidFill>
                  <a:schemeClr val="tx1"/>
                </a:solidFill>
                <a:latin typeface="Times New Roman" pitchFamily="18" charset="0"/>
                <a:cs typeface="Times New Roman" pitchFamily="18" charset="0"/>
              </a:rPr>
              <a:t>--</a:t>
            </a:r>
            <a:r>
              <a:rPr lang="en-US" sz="1600" b="1" dirty="0" smtClean="0"/>
              <a:t>Historical Context</a:t>
            </a:r>
          </a:p>
          <a:p>
            <a:pPr>
              <a:buNone/>
            </a:pPr>
            <a:r>
              <a:rPr lang="en-US" sz="1600" b="1" dirty="0" smtClean="0">
                <a:solidFill>
                  <a:schemeClr val="tx1"/>
                </a:solidFill>
                <a:latin typeface="Times New Roman" pitchFamily="18" charset="0"/>
                <a:cs typeface="Times New Roman" pitchFamily="18" charset="0"/>
              </a:rPr>
              <a:t>--</a:t>
            </a:r>
            <a:r>
              <a:rPr lang="en-US" sz="1600" b="1" dirty="0" smtClean="0"/>
              <a:t>Cultural Diversity</a:t>
            </a:r>
          </a:p>
          <a:p>
            <a:pPr>
              <a:buNone/>
            </a:pPr>
            <a:r>
              <a:rPr lang="en-US" sz="1600" b="1" dirty="0" smtClean="0">
                <a:solidFill>
                  <a:schemeClr val="tx1"/>
                </a:solidFill>
                <a:latin typeface="Times New Roman" pitchFamily="18" charset="0"/>
                <a:cs typeface="Times New Roman" pitchFamily="18" charset="0"/>
              </a:rPr>
              <a:t>--</a:t>
            </a:r>
            <a:r>
              <a:rPr lang="en-US" sz="1600" b="1" dirty="0" smtClean="0"/>
              <a:t>Ethical Considerations</a:t>
            </a:r>
          </a:p>
          <a:p>
            <a:pPr>
              <a:buNone/>
            </a:pPr>
            <a:r>
              <a:rPr lang="en-US" sz="1600" b="1" dirty="0" smtClean="0">
                <a:solidFill>
                  <a:schemeClr val="tx1"/>
                </a:solidFill>
                <a:latin typeface="Times New Roman" pitchFamily="18" charset="0"/>
                <a:cs typeface="Times New Roman" pitchFamily="18" charset="0"/>
              </a:rPr>
              <a:t>--</a:t>
            </a:r>
            <a:r>
              <a:rPr lang="en-US" sz="1600" b="1" dirty="0" smtClean="0"/>
              <a:t>Contemporary Relevance</a:t>
            </a:r>
          </a:p>
          <a:p>
            <a:pPr>
              <a:buNone/>
            </a:pPr>
            <a:r>
              <a:rPr lang="en-US" sz="1600" b="1" dirty="0" smtClean="0">
                <a:solidFill>
                  <a:schemeClr val="tx1"/>
                </a:solidFill>
                <a:latin typeface="Times New Roman" pitchFamily="18" charset="0"/>
                <a:cs typeface="Times New Roman" pitchFamily="18" charset="0"/>
              </a:rPr>
              <a:t>--</a:t>
            </a:r>
            <a:r>
              <a:rPr lang="en-US" sz="1600" b="1" dirty="0" smtClean="0"/>
              <a:t>Primary Source Material</a:t>
            </a:r>
          </a:p>
          <a:p>
            <a:pPr>
              <a:buNone/>
            </a:pPr>
            <a:r>
              <a:rPr lang="en-US" sz="1600" b="1" dirty="0" smtClean="0">
                <a:solidFill>
                  <a:schemeClr val="tx1"/>
                </a:solidFill>
                <a:latin typeface="Times New Roman" pitchFamily="18" charset="0"/>
                <a:cs typeface="Times New Roman" pitchFamily="18" charset="0"/>
              </a:rPr>
              <a:t>--</a:t>
            </a:r>
            <a:r>
              <a:rPr lang="en-US" sz="1600" b="1" dirty="0" smtClean="0"/>
              <a:t>Technology Integration</a:t>
            </a:r>
          </a:p>
          <a:p>
            <a:pPr>
              <a:buNone/>
            </a:pPr>
            <a:r>
              <a:rPr lang="en-US" sz="1600" b="1" dirty="0" smtClean="0">
                <a:solidFill>
                  <a:schemeClr val="tx1"/>
                </a:solidFill>
                <a:latin typeface="Times New Roman" pitchFamily="18" charset="0"/>
                <a:cs typeface="Times New Roman" pitchFamily="18" charset="0"/>
              </a:rPr>
              <a:t>--</a:t>
            </a:r>
            <a:r>
              <a:rPr lang="en-US" sz="1600" b="1" dirty="0" smtClean="0"/>
              <a:t>Collaborative Learning</a:t>
            </a:r>
          </a:p>
          <a:p>
            <a:pPr>
              <a:buNone/>
            </a:pPr>
            <a:r>
              <a:rPr lang="en-US" sz="1600" b="1" dirty="0" smtClean="0">
                <a:solidFill>
                  <a:schemeClr val="tx1"/>
                </a:solidFill>
                <a:latin typeface="Times New Roman" pitchFamily="18" charset="0"/>
                <a:cs typeface="Times New Roman" pitchFamily="18" charset="0"/>
              </a:rPr>
              <a:t>--</a:t>
            </a:r>
            <a:r>
              <a:rPr lang="en-US" sz="1600" b="1" dirty="0" smtClean="0"/>
              <a:t>Feedback from Stakeholders</a:t>
            </a:r>
          </a:p>
          <a:p>
            <a:pPr>
              <a:buNone/>
            </a:pPr>
            <a:r>
              <a:rPr lang="en-US" sz="1600" b="1" dirty="0" smtClean="0">
                <a:solidFill>
                  <a:schemeClr val="tx1"/>
                </a:solidFill>
                <a:latin typeface="Times New Roman" pitchFamily="18" charset="0"/>
                <a:cs typeface="Times New Roman" pitchFamily="18" charset="0"/>
              </a:rPr>
              <a:t>--</a:t>
            </a:r>
            <a:r>
              <a:rPr lang="en-US" sz="1600" b="1" dirty="0" smtClean="0"/>
              <a:t>Assessment of Critical Skills</a:t>
            </a:r>
          </a:p>
          <a:p>
            <a:pPr>
              <a:buNone/>
            </a:pPr>
            <a:r>
              <a:rPr lang="en-US" sz="1600" b="1" dirty="0" smtClean="0">
                <a:solidFill>
                  <a:schemeClr val="tx1"/>
                </a:solidFill>
                <a:latin typeface="Times New Roman" pitchFamily="18" charset="0"/>
                <a:cs typeface="Times New Roman" pitchFamily="18" charset="0"/>
              </a:rPr>
              <a:t>--</a:t>
            </a:r>
            <a:r>
              <a:rPr lang="en-US" sz="1600" b="1" dirty="0" smtClean="0"/>
              <a:t>Flexibility and Adaptability</a:t>
            </a:r>
            <a:r>
              <a:rPr lang="en-US" sz="1600" b="1" dirty="0" smtClean="0">
                <a:solidFill>
                  <a:schemeClr val="tx1"/>
                </a:solidFill>
                <a:latin typeface="Times New Roman" pitchFamily="18" charset="0"/>
                <a:cs typeface="Times New Roman" pitchFamily="18" charset="0"/>
              </a:rPr>
              <a:t/>
            </a:r>
            <a:br>
              <a:rPr lang="en-US" sz="1600" b="1" dirty="0" smtClean="0">
                <a:solidFill>
                  <a:schemeClr val="tx1"/>
                </a:solidFill>
                <a:latin typeface="Times New Roman" pitchFamily="18" charset="0"/>
                <a:cs typeface="Times New Roman" pitchFamily="18" charset="0"/>
              </a:rPr>
            </a:br>
            <a:endParaRPr lang="en-US" sz="1600" u="sng" dirty="0"/>
          </a:p>
        </p:txBody>
      </p:sp>
      <p:sp>
        <p:nvSpPr>
          <p:cNvPr id="2" name="Footer Placeholder 1">
            <a:extLst>
              <a:ext uri="{FF2B5EF4-FFF2-40B4-BE49-F238E27FC236}">
                <a16:creationId xmlns:a16="http://schemas.microsoft.com/office/drawing/2014/main" xmlns="" id="{2B49092D-70F2-4CA2-92EB-2FC005E7AA27}"/>
              </a:ext>
            </a:extLst>
          </p:cNvPr>
          <p:cNvSpPr>
            <a:spLocks noGrp="1"/>
          </p:cNvSpPr>
          <p:nvPr>
            <p:ph type="ftr" sz="quarter" idx="11"/>
          </p:nvPr>
        </p:nvSpPr>
        <p:spPr>
          <a:xfrm>
            <a:off x="0" y="6492875"/>
            <a:ext cx="6297612" cy="365125"/>
          </a:xfrm>
        </p:spPr>
        <p:txBody>
          <a:bodyPr/>
          <a:lstStyle/>
          <a:p>
            <a:r>
              <a:rPr lang="en-US" sz="2000" dirty="0">
                <a:solidFill>
                  <a:schemeClr val="tx1"/>
                </a:solidFill>
              </a:rPr>
              <a:t>KMC-HUMANITIES AND SOCIAL SCIENCE DEPARTMENT</a:t>
            </a:r>
          </a:p>
        </p:txBody>
      </p:sp>
    </p:spTree>
    <p:extLst>
      <p:ext uri="{BB962C8B-B14F-4D97-AF65-F5344CB8AC3E}">
        <p14:creationId xmlns:p14="http://schemas.microsoft.com/office/powerpoint/2010/main" val="3490686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C021857-1762-46D0-AE26-0F3F77B0F44A}"/>
              </a:ext>
            </a:extLst>
          </p:cNvPr>
          <p:cNvSpPr>
            <a:spLocks noGrp="1"/>
          </p:cNvSpPr>
          <p:nvPr>
            <p:ph sz="half" idx="1"/>
          </p:nvPr>
        </p:nvSpPr>
        <p:spPr>
          <a:xfrm>
            <a:off x="0" y="0"/>
            <a:ext cx="12192000" cy="6857999"/>
          </a:xfrm>
        </p:spPr>
        <p:txBody>
          <a:bodyPr>
            <a:noAutofit/>
          </a:bodyPr>
          <a:lstStyle/>
          <a:p>
            <a:pPr>
              <a:buNone/>
            </a:pPr>
            <a:endParaRPr lang="en-US" dirty="0" smtClean="0"/>
          </a:p>
          <a:p>
            <a:pPr algn="ctr">
              <a:buNone/>
            </a:pPr>
            <a:r>
              <a:rPr lang="en-US" sz="2400" b="1" dirty="0" smtClean="0">
                <a:solidFill>
                  <a:schemeClr val="tx1"/>
                </a:solidFill>
                <a:latin typeface="Times New Roman" pitchFamily="18" charset="0"/>
                <a:cs typeface="Times New Roman" pitchFamily="18" charset="0"/>
              </a:rPr>
              <a:t>2. Course Delivery &amp; Instruction :</a:t>
            </a:r>
          </a:p>
          <a:p>
            <a:pPr>
              <a:buNone/>
            </a:pPr>
            <a:r>
              <a:rPr lang="en-US" sz="1600" b="1" dirty="0" smtClean="0"/>
              <a:t>--Active Learning</a:t>
            </a:r>
            <a:endParaRPr lang="en-US" sz="1600" b="1" u="sng" dirty="0" smtClean="0">
              <a:solidFill>
                <a:schemeClr val="tx1"/>
              </a:solidFill>
              <a:latin typeface="Times New Roman" pitchFamily="18" charset="0"/>
              <a:cs typeface="Times New Roman" pitchFamily="18" charset="0"/>
            </a:endParaRPr>
          </a:p>
          <a:p>
            <a:pPr>
              <a:buNone/>
            </a:pPr>
            <a:r>
              <a:rPr lang="en-US" sz="1600" b="1" dirty="0" smtClean="0"/>
              <a:t>--Socratic Method</a:t>
            </a:r>
          </a:p>
          <a:p>
            <a:pPr>
              <a:buNone/>
            </a:pPr>
            <a:r>
              <a:rPr lang="en-US" sz="1600" b="1" dirty="0" smtClean="0"/>
              <a:t>--Multimodal Instruction</a:t>
            </a:r>
          </a:p>
          <a:p>
            <a:pPr>
              <a:buNone/>
            </a:pPr>
            <a:r>
              <a:rPr lang="en-US" sz="1600" b="1" dirty="0" smtClean="0"/>
              <a:t>--Case Studies and Real-World Examples</a:t>
            </a:r>
          </a:p>
          <a:p>
            <a:pPr>
              <a:buNone/>
            </a:pPr>
            <a:r>
              <a:rPr lang="en-US" sz="1600" b="1" dirty="0" smtClean="0"/>
              <a:t>-- Close Reading and Textual Analysis</a:t>
            </a:r>
          </a:p>
          <a:p>
            <a:pPr>
              <a:buNone/>
            </a:pPr>
            <a:r>
              <a:rPr lang="en-US" sz="1600" b="1" dirty="0" smtClean="0"/>
              <a:t>-- Field Trips and Cultural Experiences</a:t>
            </a:r>
          </a:p>
          <a:p>
            <a:pPr>
              <a:buNone/>
            </a:pPr>
            <a:r>
              <a:rPr lang="en-US" sz="1600" b="1" dirty="0" smtClean="0"/>
              <a:t>-- Student-Centered Discussions</a:t>
            </a:r>
          </a:p>
          <a:p>
            <a:pPr>
              <a:buNone/>
            </a:pPr>
            <a:r>
              <a:rPr lang="en-US" sz="1600" b="1" dirty="0" smtClean="0"/>
              <a:t>-- Writing and Communication Skills</a:t>
            </a:r>
          </a:p>
          <a:p>
            <a:pPr>
              <a:buNone/>
            </a:pPr>
            <a:r>
              <a:rPr lang="en-US" sz="1600" b="1" dirty="0" smtClean="0"/>
              <a:t>-- Guest Speakers</a:t>
            </a:r>
          </a:p>
          <a:p>
            <a:pPr>
              <a:buNone/>
            </a:pPr>
            <a:r>
              <a:rPr lang="en-US" sz="1600" b="1" dirty="0" smtClean="0"/>
              <a:t>-- Ethical Debates</a:t>
            </a:r>
          </a:p>
          <a:p>
            <a:pPr>
              <a:buNone/>
            </a:pPr>
            <a:r>
              <a:rPr lang="en-US" sz="1600" b="1" dirty="0" smtClean="0"/>
              <a:t>-- Technology Integration</a:t>
            </a:r>
          </a:p>
          <a:p>
            <a:pPr>
              <a:buNone/>
            </a:pPr>
            <a:r>
              <a:rPr lang="en-US" sz="1600" b="1" dirty="0" smtClean="0"/>
              <a:t>-- Cultivate Inclusivity</a:t>
            </a:r>
          </a:p>
          <a:p>
            <a:pPr>
              <a:buNone/>
            </a:pPr>
            <a:r>
              <a:rPr lang="en-US" sz="1600" b="1" dirty="0" smtClean="0"/>
              <a:t>-- Encourage Independent Research</a:t>
            </a:r>
          </a:p>
          <a:p>
            <a:pPr>
              <a:buNone/>
            </a:pPr>
            <a:r>
              <a:rPr lang="en-US" sz="1600" b="1" dirty="0" smtClean="0"/>
              <a:t>-- Feedback and Reflection</a:t>
            </a:r>
          </a:p>
          <a:p>
            <a:pPr>
              <a:buNone/>
            </a:pPr>
            <a:r>
              <a:rPr lang="en-US" sz="1600" b="1" dirty="0" smtClean="0"/>
              <a:t>-- Interdisciplinary Connections</a:t>
            </a:r>
            <a:endParaRPr lang="en-US" sz="2400" dirty="0"/>
          </a:p>
        </p:txBody>
      </p:sp>
      <p:sp>
        <p:nvSpPr>
          <p:cNvPr id="4" name="Footer Placeholder 3">
            <a:extLst>
              <a:ext uri="{FF2B5EF4-FFF2-40B4-BE49-F238E27FC236}">
                <a16:creationId xmlns:a16="http://schemas.microsoft.com/office/drawing/2014/main" xmlns="" id="{A367D341-B745-4921-BCE2-EAAC0B8BD514}"/>
              </a:ext>
            </a:extLst>
          </p:cNvPr>
          <p:cNvSpPr>
            <a:spLocks noGrp="1"/>
          </p:cNvSpPr>
          <p:nvPr>
            <p:ph type="ftr" sz="quarter" idx="11"/>
          </p:nvPr>
        </p:nvSpPr>
        <p:spPr>
          <a:xfrm>
            <a:off x="0" y="6492875"/>
            <a:ext cx="6297612" cy="365125"/>
          </a:xfrm>
        </p:spPr>
        <p:txBody>
          <a:bodyPr/>
          <a:lstStyle/>
          <a:p>
            <a:r>
              <a:rPr lang="en-US" sz="2000" i="1" dirty="0">
                <a:solidFill>
                  <a:schemeClr val="tx1"/>
                </a:solidFill>
              </a:rPr>
              <a:t>KMC-HUMANITIES AND SOCIAL SCIENCE DEPARTMENT</a:t>
            </a:r>
          </a:p>
        </p:txBody>
      </p:sp>
    </p:spTree>
    <p:extLst>
      <p:ext uri="{BB962C8B-B14F-4D97-AF65-F5344CB8AC3E}">
        <p14:creationId xmlns:p14="http://schemas.microsoft.com/office/powerpoint/2010/main" val="2314246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BA_-_Bachleor_of_Arts_in_Nepal___BA_Course_College_Eligiblity_info___Program_in_">
            <a:hlinkClick r:id="" action="ppaction://media"/>
            <a:extLst>
              <a:ext uri="{FF2B5EF4-FFF2-40B4-BE49-F238E27FC236}">
                <a16:creationId xmlns:a16="http://schemas.microsoft.com/office/drawing/2014/main" xmlns="" id="{9DB9ED01-7B1C-4852-9D71-261BBCA2C80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445375" y="3429000"/>
            <a:ext cx="4064000" cy="2638425"/>
          </a:xfrm>
          <a:prstGeom prst="rect">
            <a:avLst/>
          </a:prstGeom>
          <a:scene3d>
            <a:camera prst="isometricOffAxis1Right"/>
            <a:lightRig rig="threePt" dir="t"/>
          </a:scene3d>
        </p:spPr>
      </p:pic>
      <p:sp>
        <p:nvSpPr>
          <p:cNvPr id="3" name="Content Placeholder 2">
            <a:extLst>
              <a:ext uri="{FF2B5EF4-FFF2-40B4-BE49-F238E27FC236}">
                <a16:creationId xmlns:a16="http://schemas.microsoft.com/office/drawing/2014/main" xmlns="" id="{8DA1B79A-B5F7-4F70-A495-76DB06FA7155}"/>
              </a:ext>
            </a:extLst>
          </p:cNvPr>
          <p:cNvSpPr>
            <a:spLocks noGrp="1"/>
          </p:cNvSpPr>
          <p:nvPr>
            <p:ph idx="1"/>
          </p:nvPr>
        </p:nvSpPr>
        <p:spPr>
          <a:xfrm>
            <a:off x="28576" y="0"/>
            <a:ext cx="12163424" cy="6857999"/>
          </a:xfrm>
        </p:spPr>
        <p:txBody>
          <a:bodyPr/>
          <a:lstStyle/>
          <a:p>
            <a:pPr algn="just">
              <a:buNone/>
            </a:pPr>
            <a:endParaRPr lang="en-US" b="1" dirty="0" smtClean="0"/>
          </a:p>
          <a:p>
            <a:pPr algn="just">
              <a:buNone/>
            </a:pPr>
            <a:endParaRPr lang="en-US" b="1" dirty="0" smtClean="0"/>
          </a:p>
          <a:p>
            <a:pPr algn="just">
              <a:buNone/>
            </a:pPr>
            <a:endParaRPr lang="en-US" b="1" dirty="0"/>
          </a:p>
        </p:txBody>
      </p:sp>
      <p:sp>
        <p:nvSpPr>
          <p:cNvPr id="2" name="Footer Placeholder 1">
            <a:extLst>
              <a:ext uri="{FF2B5EF4-FFF2-40B4-BE49-F238E27FC236}">
                <a16:creationId xmlns:a16="http://schemas.microsoft.com/office/drawing/2014/main" xmlns="" id="{27C9FF8E-3371-4DBF-AFF9-18B70AD65A10}"/>
              </a:ext>
            </a:extLst>
          </p:cNvPr>
          <p:cNvSpPr>
            <a:spLocks noGrp="1"/>
          </p:cNvSpPr>
          <p:nvPr>
            <p:ph type="ftr" sz="quarter" idx="11"/>
          </p:nvPr>
        </p:nvSpPr>
        <p:spPr>
          <a:xfrm>
            <a:off x="28576" y="6492874"/>
            <a:ext cx="6297612" cy="365125"/>
          </a:xfrm>
        </p:spPr>
        <p:txBody>
          <a:bodyPr/>
          <a:lstStyle/>
          <a:p>
            <a:r>
              <a:rPr lang="en-US" sz="2000" dirty="0">
                <a:solidFill>
                  <a:schemeClr val="tx1"/>
                </a:solidFill>
              </a:rPr>
              <a:t>KMC-HUMANITIES AND SOCIAL SCIENCE DEPARTMENT</a:t>
            </a:r>
          </a:p>
        </p:txBody>
      </p:sp>
      <p:sp>
        <p:nvSpPr>
          <p:cNvPr id="6" name="Rectangle 5"/>
          <p:cNvSpPr/>
          <p:nvPr/>
        </p:nvSpPr>
        <p:spPr>
          <a:xfrm>
            <a:off x="0" y="242055"/>
            <a:ext cx="12192000" cy="6370975"/>
          </a:xfrm>
          <a:prstGeom prst="rect">
            <a:avLst/>
          </a:prstGeom>
        </p:spPr>
        <p:txBody>
          <a:bodyPr wrap="square">
            <a:spAutoFit/>
          </a:bodyPr>
          <a:lstStyle/>
          <a:p>
            <a:pPr algn="ctr"/>
            <a:r>
              <a:rPr lang="en-US" sz="2400" b="1" dirty="0" smtClean="0">
                <a:latin typeface="Times New Roman" pitchFamily="18" charset="0"/>
                <a:cs typeface="Times New Roman" pitchFamily="18" charset="0"/>
              </a:rPr>
              <a:t>3. Student Support &amp; Advising :</a:t>
            </a:r>
          </a:p>
          <a:p>
            <a:r>
              <a:rPr lang="en-US" sz="2400" b="1" dirty="0" smtClean="0">
                <a:latin typeface="Times New Roman" pitchFamily="18" charset="0"/>
                <a:cs typeface="Times New Roman" pitchFamily="18" charset="0"/>
              </a:rPr>
              <a:t>-- Academic Advising </a:t>
            </a:r>
          </a:p>
          <a:p>
            <a:r>
              <a:rPr lang="en-US" sz="2400" b="1" dirty="0" smtClean="0">
                <a:latin typeface="Times New Roman" pitchFamily="18" charset="0"/>
                <a:cs typeface="Times New Roman" pitchFamily="18" charset="0"/>
              </a:rPr>
              <a:t>-- Orientation Programs </a:t>
            </a:r>
          </a:p>
          <a:p>
            <a:r>
              <a:rPr lang="en-US" sz="2400" b="1" dirty="0" smtClean="0">
                <a:latin typeface="Times New Roman" pitchFamily="18" charset="0"/>
                <a:cs typeface="Times New Roman" pitchFamily="18" charset="0"/>
              </a:rPr>
              <a:t>-- Individualized Planning </a:t>
            </a:r>
          </a:p>
          <a:p>
            <a:r>
              <a:rPr lang="en-US" sz="2400" b="1" dirty="0" smtClean="0">
                <a:latin typeface="Times New Roman" pitchFamily="18" charset="0"/>
                <a:cs typeface="Times New Roman" pitchFamily="18" charset="0"/>
              </a:rPr>
              <a:t>-- Mentorship Programs </a:t>
            </a:r>
          </a:p>
          <a:p>
            <a:r>
              <a:rPr lang="en-US" sz="2400" b="1" dirty="0" smtClean="0">
                <a:latin typeface="Times New Roman" pitchFamily="18" charset="0"/>
                <a:cs typeface="Times New Roman" pitchFamily="18" charset="0"/>
              </a:rPr>
              <a:t>-- Regular Check-ins </a:t>
            </a:r>
          </a:p>
          <a:p>
            <a:r>
              <a:rPr lang="en-US" sz="2400" b="1" dirty="0" smtClean="0">
                <a:latin typeface="Times New Roman" pitchFamily="18" charset="0"/>
                <a:cs typeface="Times New Roman" pitchFamily="18" charset="0"/>
              </a:rPr>
              <a:t>-- Career Counseling </a:t>
            </a:r>
          </a:p>
          <a:p>
            <a:r>
              <a:rPr lang="en-US" sz="2400" b="1" dirty="0" smtClean="0">
                <a:latin typeface="Times New Roman" pitchFamily="18" charset="0"/>
                <a:cs typeface="Times New Roman" pitchFamily="18" charset="0"/>
              </a:rPr>
              <a:t>-- Internship and Experiential Learning Support </a:t>
            </a:r>
          </a:p>
          <a:p>
            <a:r>
              <a:rPr lang="en-US" sz="2400" b="1" dirty="0" smtClean="0">
                <a:latin typeface="Times New Roman" pitchFamily="18" charset="0"/>
                <a:cs typeface="Times New Roman" pitchFamily="18" charset="0"/>
              </a:rPr>
              <a:t>-- Writing and Research Support </a:t>
            </a:r>
          </a:p>
          <a:p>
            <a:r>
              <a:rPr lang="en-US" sz="2400" b="1" dirty="0" smtClean="0">
                <a:latin typeface="Times New Roman" pitchFamily="18" charset="0"/>
                <a:cs typeface="Times New Roman" pitchFamily="18" charset="0"/>
              </a:rPr>
              <a:t>-- Inclusivity and Diversity Programs </a:t>
            </a:r>
          </a:p>
          <a:p>
            <a:r>
              <a:rPr lang="en-US" sz="2400" b="1" dirty="0" smtClean="0">
                <a:latin typeface="Times New Roman" pitchFamily="18" charset="0"/>
                <a:cs typeface="Times New Roman" pitchFamily="18" charset="0"/>
              </a:rPr>
              <a:t>-- Workshops and Seminars </a:t>
            </a:r>
          </a:p>
          <a:p>
            <a:r>
              <a:rPr lang="en-US" sz="2400" b="1" dirty="0" smtClean="0">
                <a:latin typeface="Times New Roman" pitchFamily="18" charset="0"/>
                <a:cs typeface="Times New Roman" pitchFamily="18" charset="0"/>
              </a:rPr>
              <a:t>-- Student Organizations </a:t>
            </a:r>
          </a:p>
          <a:p>
            <a:r>
              <a:rPr lang="en-US" sz="2400" b="1" dirty="0" smtClean="0">
                <a:latin typeface="Times New Roman" pitchFamily="18" charset="0"/>
                <a:cs typeface="Times New Roman" pitchFamily="18" charset="0"/>
              </a:rPr>
              <a:t>-- Study Groups and Tutoring </a:t>
            </a:r>
          </a:p>
          <a:p>
            <a:r>
              <a:rPr lang="en-US" sz="2400" b="1" dirty="0" smtClean="0">
                <a:latin typeface="Times New Roman" pitchFamily="18" charset="0"/>
                <a:cs typeface="Times New Roman" pitchFamily="18" charset="0"/>
              </a:rPr>
              <a:t>-- Health and Well-Being Support </a:t>
            </a:r>
          </a:p>
          <a:p>
            <a:r>
              <a:rPr lang="en-US" sz="2400" b="1" dirty="0" smtClean="0">
                <a:latin typeface="Times New Roman" pitchFamily="18" charset="0"/>
                <a:cs typeface="Times New Roman" pitchFamily="18" charset="0"/>
              </a:rPr>
              <a:t>-- Recognition and Awards </a:t>
            </a:r>
          </a:p>
          <a:p>
            <a:r>
              <a:rPr lang="en-US" sz="2400" b="1" dirty="0" smtClean="0">
                <a:latin typeface="Times New Roman" pitchFamily="18" charset="0"/>
                <a:cs typeface="Times New Roman" pitchFamily="18" charset="0"/>
              </a:rPr>
              <a:t>-- Feedback Mechanisms </a:t>
            </a:r>
            <a:br>
              <a:rPr lang="en-US" sz="2400" b="1" dirty="0" smtClean="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236450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093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1504E6F-3346-423B-83D2-9C7686A76825}"/>
              </a:ext>
            </a:extLst>
          </p:cNvPr>
          <p:cNvSpPr>
            <a:spLocks noGrp="1"/>
          </p:cNvSpPr>
          <p:nvPr>
            <p:ph idx="1"/>
          </p:nvPr>
        </p:nvSpPr>
        <p:spPr>
          <a:xfrm>
            <a:off x="1" y="0"/>
            <a:ext cx="12106274" cy="6857999"/>
          </a:xfrm>
        </p:spPr>
        <p:txBody>
          <a:bodyPr>
            <a:noAutofit/>
          </a:bodyPr>
          <a:lstStyle/>
          <a:p>
            <a:pPr marL="0" indent="0" algn="ctr">
              <a:buNone/>
            </a:pPr>
            <a:endParaRPr lang="en-US" sz="1400" dirty="0" smtClean="0"/>
          </a:p>
          <a:p>
            <a:pPr marL="0" indent="0" algn="ctr">
              <a:buNone/>
            </a:pPr>
            <a:endParaRPr lang="en-US" sz="1400" dirty="0" smtClean="0"/>
          </a:p>
          <a:p>
            <a:pPr marL="0" indent="0" algn="ctr">
              <a:buNone/>
            </a:pPr>
            <a:r>
              <a:rPr lang="en-US" sz="2400" b="1" dirty="0" smtClean="0">
                <a:solidFill>
                  <a:schemeClr val="tx1"/>
                </a:solidFill>
                <a:latin typeface="Times New Roman" pitchFamily="18" charset="0"/>
                <a:cs typeface="Times New Roman" pitchFamily="18" charset="0"/>
              </a:rPr>
              <a:t>4. Research &amp; Scholarship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Original Research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Interdisciplinary Research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Peer-Reviewed Publications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Presentations and Conferences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Research Ethics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Digital Humanities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Long-Term Research Projects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Research Grants and Funding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Collaborative Research Groups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Engaging with Communities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Book Publications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Archival Research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Data Collection and Analysis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Citation and Academic Integrity </a:t>
            </a:r>
          </a:p>
          <a:p>
            <a:pPr marL="0" indent="0">
              <a:buNone/>
            </a:pPr>
            <a:r>
              <a:rPr lang="en-US" sz="1400" b="1" dirty="0" smtClean="0">
                <a:solidFill>
                  <a:schemeClr val="tx1"/>
                </a:solidFill>
                <a:latin typeface="Times New Roman" pitchFamily="18" charset="0"/>
                <a:cs typeface="Times New Roman" pitchFamily="18" charset="0"/>
              </a:rPr>
              <a:t>--</a:t>
            </a:r>
            <a:r>
              <a:rPr lang="en-US" sz="1400" b="1" dirty="0" smtClean="0"/>
              <a:t> Public Engagement </a:t>
            </a:r>
            <a:r>
              <a:rPr lang="en-US" sz="1400" b="1" dirty="0" smtClean="0">
                <a:solidFill>
                  <a:schemeClr val="tx1"/>
                </a:solidFill>
                <a:latin typeface="Times New Roman" pitchFamily="18" charset="0"/>
                <a:cs typeface="Times New Roman" pitchFamily="18" charset="0"/>
              </a:rPr>
              <a:t/>
            </a:r>
            <a:br>
              <a:rPr lang="en-US" sz="1400" b="1" dirty="0" smtClean="0">
                <a:solidFill>
                  <a:schemeClr val="tx1"/>
                </a:solidFill>
                <a:latin typeface="Times New Roman" pitchFamily="18" charset="0"/>
                <a:cs typeface="Times New Roman" pitchFamily="18" charset="0"/>
              </a:rPr>
            </a:br>
            <a:endParaRPr lang="en-US" sz="2400" dirty="0"/>
          </a:p>
        </p:txBody>
      </p:sp>
      <p:sp>
        <p:nvSpPr>
          <p:cNvPr id="4" name="Footer Placeholder 3">
            <a:extLst>
              <a:ext uri="{FF2B5EF4-FFF2-40B4-BE49-F238E27FC236}">
                <a16:creationId xmlns:a16="http://schemas.microsoft.com/office/drawing/2014/main" xmlns="" id="{E56BB7B2-4A70-4DFB-B029-AE17E4D6DC25}"/>
              </a:ext>
            </a:extLst>
          </p:cNvPr>
          <p:cNvSpPr>
            <a:spLocks noGrp="1"/>
          </p:cNvSpPr>
          <p:nvPr>
            <p:ph type="ftr" sz="quarter" idx="11"/>
          </p:nvPr>
        </p:nvSpPr>
        <p:spPr>
          <a:xfrm>
            <a:off x="0" y="6370654"/>
            <a:ext cx="5963920" cy="487345"/>
          </a:xfrm>
        </p:spPr>
        <p:txBody>
          <a:bodyPr/>
          <a:lstStyle/>
          <a:p>
            <a:pPr algn="r"/>
            <a:r>
              <a:rPr lang="en-US" sz="1800" dirty="0">
                <a:solidFill>
                  <a:schemeClr val="tx1"/>
                </a:solidFill>
              </a:rPr>
              <a:t>KMC-HUMANITIES AND SOCIAL SCIENCE DEPARTMENT</a:t>
            </a:r>
          </a:p>
        </p:txBody>
      </p:sp>
    </p:spTree>
    <p:extLst>
      <p:ext uri="{BB962C8B-B14F-4D97-AF65-F5344CB8AC3E}">
        <p14:creationId xmlns:p14="http://schemas.microsoft.com/office/powerpoint/2010/main" val="6517728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xmlns="" id="{FA32ADDA-C8D4-432D-A010-2A2561F50248}"/>
              </a:ext>
            </a:extLst>
          </p:cNvPr>
          <p:cNvSpPr>
            <a:spLocks noGrp="1"/>
          </p:cNvSpPr>
          <p:nvPr>
            <p:ph sz="half" idx="2"/>
          </p:nvPr>
        </p:nvSpPr>
        <p:spPr>
          <a:xfrm>
            <a:off x="0" y="0"/>
            <a:ext cx="12191999" cy="6857999"/>
          </a:xfrm>
          <a:ln>
            <a:solidFill>
              <a:schemeClr val="accent1"/>
            </a:solidFill>
          </a:ln>
        </p:spPr>
        <p:style>
          <a:lnRef idx="2">
            <a:schemeClr val="dk1"/>
          </a:lnRef>
          <a:fillRef idx="1">
            <a:schemeClr val="lt1"/>
          </a:fillRef>
          <a:effectRef idx="0">
            <a:schemeClr val="dk1"/>
          </a:effectRef>
          <a:fontRef idx="minor">
            <a:schemeClr val="dk1"/>
          </a:fontRef>
        </p:style>
        <p:txBody>
          <a:bodyPr>
            <a:normAutofit fontScale="92500" lnSpcReduction="10000"/>
          </a:bodyPr>
          <a:lstStyle/>
          <a:p>
            <a:pPr marL="0" indent="0" algn="ctr">
              <a:buNone/>
            </a:pPr>
            <a:r>
              <a:rPr lang="en-US" sz="2400" b="1" dirty="0" smtClean="0">
                <a:solidFill>
                  <a:schemeClr val="tx1"/>
                </a:solidFill>
                <a:latin typeface="Times New Roman" pitchFamily="18" charset="0"/>
                <a:cs typeface="Times New Roman" pitchFamily="18" charset="0"/>
              </a:rPr>
              <a:t>5. Quality Assurance &amp; Accreditation :</a:t>
            </a:r>
          </a:p>
          <a:p>
            <a:pPr marL="0" indent="0">
              <a:buNone/>
            </a:pPr>
            <a:r>
              <a:rPr lang="en-US" sz="2200" b="1" dirty="0" smtClean="0">
                <a:solidFill>
                  <a:schemeClr val="tx1"/>
                </a:solidFill>
                <a:latin typeface="Times New Roman" pitchFamily="18" charset="0"/>
                <a:cs typeface="Times New Roman" pitchFamily="18" charset="0"/>
              </a:rPr>
              <a:t>--</a:t>
            </a:r>
            <a:r>
              <a:rPr lang="en-US" sz="2200" b="1" dirty="0" smtClean="0"/>
              <a:t> Curriculum Review and Alignment</a:t>
            </a:r>
          </a:p>
          <a:p>
            <a:pPr marL="0" indent="0">
              <a:buNone/>
            </a:pPr>
            <a:r>
              <a:rPr lang="en-US" sz="2200" b="1" dirty="0" smtClean="0"/>
              <a:t>-- Learning Outcomes Assessment</a:t>
            </a:r>
          </a:p>
          <a:p>
            <a:pPr marL="0" indent="0">
              <a:buNone/>
            </a:pPr>
            <a:r>
              <a:rPr lang="en-US" sz="2200" b="1" dirty="0" smtClean="0"/>
              <a:t>-- External Evaluation and Peer Review</a:t>
            </a:r>
          </a:p>
          <a:p>
            <a:pPr marL="0" indent="0">
              <a:buNone/>
            </a:pPr>
            <a:r>
              <a:rPr lang="en-US" sz="2200" b="1" dirty="0" smtClean="0"/>
              <a:t>-- Faculty Qualifications and Development</a:t>
            </a:r>
          </a:p>
          <a:p>
            <a:pPr marL="0" indent="0">
              <a:buNone/>
            </a:pPr>
            <a:r>
              <a:rPr lang="en-US" sz="2200" b="1" dirty="0" smtClean="0"/>
              <a:t>-- Student Support Services</a:t>
            </a:r>
          </a:p>
          <a:p>
            <a:pPr marL="0" indent="0">
              <a:buNone/>
            </a:pPr>
            <a:r>
              <a:rPr lang="en-US" sz="2200" b="1" dirty="0" smtClean="0"/>
              <a:t>-- Research and Scholarship Evaluation</a:t>
            </a:r>
          </a:p>
          <a:p>
            <a:pPr marL="0" indent="0">
              <a:buNone/>
            </a:pPr>
            <a:r>
              <a:rPr lang="en-US" sz="2200" b="1" dirty="0" smtClean="0"/>
              <a:t>-- Facilities and Resources</a:t>
            </a:r>
          </a:p>
          <a:p>
            <a:pPr marL="0" indent="0">
              <a:buNone/>
            </a:pPr>
            <a:r>
              <a:rPr lang="en-US" sz="2200" b="1" dirty="0" smtClean="0"/>
              <a:t>-- Inclusivity and Diversity</a:t>
            </a:r>
          </a:p>
          <a:p>
            <a:pPr marL="0" indent="0">
              <a:buNone/>
            </a:pPr>
            <a:r>
              <a:rPr lang="en-US" sz="2200" b="1" dirty="0" smtClean="0"/>
              <a:t>-- Continuous Improvement</a:t>
            </a:r>
          </a:p>
          <a:p>
            <a:pPr marL="0" indent="0">
              <a:buNone/>
            </a:pPr>
            <a:r>
              <a:rPr lang="en-US" sz="2200" b="1" dirty="0" smtClean="0"/>
              <a:t>-- Accreditation Agencies</a:t>
            </a:r>
          </a:p>
          <a:p>
            <a:pPr marL="0" indent="0">
              <a:buNone/>
            </a:pPr>
            <a:r>
              <a:rPr lang="en-US" sz="2200" b="1" dirty="0" smtClean="0"/>
              <a:t>-- Benchmarking and Best Practices</a:t>
            </a:r>
          </a:p>
          <a:p>
            <a:pPr marL="0" indent="0">
              <a:buNone/>
            </a:pPr>
            <a:r>
              <a:rPr lang="en-US" sz="2200" b="1" dirty="0" smtClean="0"/>
              <a:t>-- Student Assessment and Feedback</a:t>
            </a:r>
          </a:p>
          <a:p>
            <a:pPr marL="0" indent="0">
              <a:buNone/>
            </a:pPr>
            <a:r>
              <a:rPr lang="en-US" sz="2200" b="1" dirty="0" smtClean="0"/>
              <a:t>-- Adherence to Regulations</a:t>
            </a:r>
          </a:p>
          <a:p>
            <a:pPr marL="0" indent="0">
              <a:buNone/>
            </a:pPr>
            <a:r>
              <a:rPr lang="en-US" sz="2200" b="1" dirty="0" smtClean="0"/>
              <a:t>-- External Stakeholder Engagement</a:t>
            </a:r>
          </a:p>
          <a:p>
            <a:pPr marL="0" indent="0">
              <a:buNone/>
            </a:pPr>
            <a:r>
              <a:rPr lang="en-US" sz="2200" b="1" dirty="0" smtClean="0"/>
              <a:t>-- Transparency and Accountability</a:t>
            </a:r>
            <a:endParaRPr lang="en-US" sz="2200" dirty="0"/>
          </a:p>
        </p:txBody>
      </p:sp>
      <p:sp>
        <p:nvSpPr>
          <p:cNvPr id="2" name="Footer Placeholder 1">
            <a:extLst>
              <a:ext uri="{FF2B5EF4-FFF2-40B4-BE49-F238E27FC236}">
                <a16:creationId xmlns:a16="http://schemas.microsoft.com/office/drawing/2014/main" xmlns="" id="{3EE2049B-3BD8-4044-BA2E-39BB0FF809C2}"/>
              </a:ext>
            </a:extLst>
          </p:cNvPr>
          <p:cNvSpPr>
            <a:spLocks noGrp="1"/>
          </p:cNvSpPr>
          <p:nvPr>
            <p:ph type="ftr" sz="quarter" idx="11"/>
          </p:nvPr>
        </p:nvSpPr>
        <p:spPr>
          <a:xfrm>
            <a:off x="0" y="6492875"/>
            <a:ext cx="6297612" cy="365125"/>
          </a:xfrm>
        </p:spPr>
        <p:txBody>
          <a:bodyPr/>
          <a:lstStyle/>
          <a:p>
            <a:r>
              <a:rPr lang="en-US" sz="2000" i="1" dirty="0">
                <a:solidFill>
                  <a:schemeClr val="tx1"/>
                </a:solidFill>
              </a:rPr>
              <a:t>KMC-HUMANITIES AND SOCIAL SCIENCE DEPARTMENT</a:t>
            </a:r>
          </a:p>
        </p:txBody>
      </p:sp>
    </p:spTree>
    <p:extLst>
      <p:ext uri="{BB962C8B-B14F-4D97-AF65-F5344CB8AC3E}">
        <p14:creationId xmlns:p14="http://schemas.microsoft.com/office/powerpoint/2010/main" val="585858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 calcmode="lin" valueType="num">
                                      <p:cBhvr additive="base">
                                        <p:cTn id="7" dur="500" fill="hold"/>
                                        <p:tgtEl>
                                          <p:spTgt spid="4">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additive="base">
                                        <p:cTn id="2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 calcmode="lin" valueType="num">
                                      <p:cBhvr additive="base">
                                        <p:cTn id="3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 calcmode="lin" valueType="num">
                                      <p:cBhvr additive="base">
                                        <p:cTn id="3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anim calcmode="lin" valueType="num">
                                      <p:cBhvr additive="base">
                                        <p:cTn id="4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 calcmode="lin" valueType="num">
                                      <p:cBhvr additive="base">
                                        <p:cTn id="4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
                                            <p:txEl>
                                              <p:pRg st="7" end="7"/>
                                            </p:txEl>
                                          </p:spTgt>
                                        </p:tgtEl>
                                        <p:attrNameLst>
                                          <p:attrName>style.visibility</p:attrName>
                                        </p:attrNameLst>
                                      </p:cBhvr>
                                      <p:to>
                                        <p:strVal val="visible"/>
                                      </p:to>
                                    </p:set>
                                    <p:anim calcmode="lin" valueType="num">
                                      <p:cBhvr additive="base">
                                        <p:cTn id="5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
                                            <p:txEl>
                                              <p:pRg st="8" end="8"/>
                                            </p:txEl>
                                          </p:spTgt>
                                        </p:tgtEl>
                                        <p:attrNameLst>
                                          <p:attrName>style.visibility</p:attrName>
                                        </p:attrNameLst>
                                      </p:cBhvr>
                                      <p:to>
                                        <p:strVal val="visible"/>
                                      </p:to>
                                    </p:set>
                                    <p:anim calcmode="lin" valueType="num">
                                      <p:cBhvr additive="base">
                                        <p:cTn id="6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
                                            <p:txEl>
                                              <p:pRg st="9" end="9"/>
                                            </p:txEl>
                                          </p:spTgt>
                                        </p:tgtEl>
                                        <p:attrNameLst>
                                          <p:attrName>style.visibility</p:attrName>
                                        </p:attrNameLst>
                                      </p:cBhvr>
                                      <p:to>
                                        <p:strVal val="visible"/>
                                      </p:to>
                                    </p:set>
                                    <p:anim calcmode="lin" valueType="num">
                                      <p:cBhvr additive="base">
                                        <p:cTn id="6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
                                            <p:txEl>
                                              <p:pRg st="10" end="10"/>
                                            </p:txEl>
                                          </p:spTgt>
                                        </p:tgtEl>
                                        <p:attrNameLst>
                                          <p:attrName>style.visibility</p:attrName>
                                        </p:attrNameLst>
                                      </p:cBhvr>
                                      <p:to>
                                        <p:strVal val="visible"/>
                                      </p:to>
                                    </p:set>
                                    <p:anim calcmode="lin" valueType="num">
                                      <p:cBhvr additive="base">
                                        <p:cTn id="73"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4">
                                            <p:txEl>
                                              <p:pRg st="11" end="11"/>
                                            </p:txEl>
                                          </p:spTgt>
                                        </p:tgtEl>
                                        <p:attrNameLst>
                                          <p:attrName>style.visibility</p:attrName>
                                        </p:attrNameLst>
                                      </p:cBhvr>
                                      <p:to>
                                        <p:strVal val="visible"/>
                                      </p:to>
                                    </p:set>
                                    <p:anim calcmode="lin" valueType="num">
                                      <p:cBhvr additive="base">
                                        <p:cTn id="79"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4">
                                            <p:txEl>
                                              <p:pRg st="12" end="12"/>
                                            </p:txEl>
                                          </p:spTgt>
                                        </p:tgtEl>
                                        <p:attrNameLst>
                                          <p:attrName>style.visibility</p:attrName>
                                        </p:attrNameLst>
                                      </p:cBhvr>
                                      <p:to>
                                        <p:strVal val="visible"/>
                                      </p:to>
                                    </p:set>
                                    <p:anim calcmode="lin" valueType="num">
                                      <p:cBhvr additive="base">
                                        <p:cTn id="85"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4">
                                            <p:txEl>
                                              <p:pRg st="13" end="13"/>
                                            </p:txEl>
                                          </p:spTgt>
                                        </p:tgtEl>
                                        <p:attrNameLst>
                                          <p:attrName>style.visibility</p:attrName>
                                        </p:attrNameLst>
                                      </p:cBhvr>
                                      <p:to>
                                        <p:strVal val="visible"/>
                                      </p:to>
                                    </p:set>
                                    <p:anim calcmode="lin" valueType="num">
                                      <p:cBhvr additive="base">
                                        <p:cTn id="91"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4">
                                            <p:txEl>
                                              <p:pRg st="14" end="14"/>
                                            </p:txEl>
                                          </p:spTgt>
                                        </p:tgtEl>
                                        <p:attrNameLst>
                                          <p:attrName>style.visibility</p:attrName>
                                        </p:attrNameLst>
                                      </p:cBhvr>
                                      <p:to>
                                        <p:strVal val="visible"/>
                                      </p:to>
                                    </p:set>
                                    <p:anim calcmode="lin" valueType="num">
                                      <p:cBhvr additive="base">
                                        <p:cTn id="97"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4">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4">
                                            <p:txEl>
                                              <p:pRg st="15" end="15"/>
                                            </p:txEl>
                                          </p:spTgt>
                                        </p:tgtEl>
                                        <p:attrNameLst>
                                          <p:attrName>style.visibility</p:attrName>
                                        </p:attrNameLst>
                                      </p:cBhvr>
                                      <p:to>
                                        <p:strVal val="visible"/>
                                      </p:to>
                                    </p:set>
                                    <p:anim calcmode="lin" valueType="num">
                                      <p:cBhvr additive="base">
                                        <p:cTn id="103"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F80C76-671E-487F-B68B-B66F0413EDF8}"/>
              </a:ext>
            </a:extLst>
          </p:cNvPr>
          <p:cNvSpPr>
            <a:spLocks noGrp="1"/>
          </p:cNvSpPr>
          <p:nvPr>
            <p:ph type="title"/>
          </p:nvPr>
        </p:nvSpPr>
        <p:spPr>
          <a:xfrm>
            <a:off x="1" y="-28574"/>
            <a:ext cx="12192000" cy="6886574"/>
          </a:xfrm>
        </p:spPr>
        <p:txBody>
          <a:bodyPr>
            <a:noAutofit/>
          </a:bodyPr>
          <a:lstStyle/>
          <a:p>
            <a:pPr marL="0" indent="0"/>
            <a:r>
              <a:rPr lang="en-US" sz="1400" dirty="0" smtClean="0">
                <a:solidFill>
                  <a:schemeClr val="tx1"/>
                </a:solidFill>
              </a:rPr>
              <a:t/>
            </a:r>
            <a:br>
              <a:rPr lang="en-US" sz="1400" dirty="0" smtClean="0">
                <a:solidFill>
                  <a:schemeClr val="tx1"/>
                </a:solidFill>
              </a:rPr>
            </a:br>
            <a:r>
              <a:rPr lang="en-US" sz="1400" dirty="0" smtClean="0">
                <a:solidFill>
                  <a:schemeClr val="tx1"/>
                </a:solidFill>
              </a:rPr>
              <a:t/>
            </a:r>
            <a:br>
              <a:rPr lang="en-US" sz="1400" dirty="0" smtClean="0">
                <a:solidFill>
                  <a:schemeClr val="tx1"/>
                </a:solidFill>
              </a:rPr>
            </a:br>
            <a:r>
              <a:rPr lang="en-US" sz="2400" b="1" dirty="0" smtClean="0">
                <a:solidFill>
                  <a:schemeClr val="tx1"/>
                </a:solidFill>
                <a:latin typeface="Times New Roman" pitchFamily="18" charset="0"/>
                <a:cs typeface="Times New Roman" pitchFamily="18" charset="0"/>
              </a:rPr>
              <a:t>                                       6. Community Engagement &amp; Collaboration :</a:t>
            </a:r>
            <a:br>
              <a:rPr lang="en-US" sz="2400" b="1" dirty="0" smtClean="0">
                <a:solidFill>
                  <a:schemeClr val="tx1"/>
                </a:solidFill>
                <a:latin typeface="Times New Roman" pitchFamily="18" charset="0"/>
                <a:cs typeface="Times New Roman" pitchFamily="18" charset="0"/>
              </a:rPr>
            </a:br>
            <a:r>
              <a:rPr lang="en-US" sz="2400" b="1" dirty="0" smtClean="0">
                <a:solidFill>
                  <a:schemeClr val="tx1"/>
                </a:solidFill>
                <a:latin typeface="Times New Roman" pitchFamily="18" charset="0"/>
                <a:cs typeface="Times New Roman" pitchFamily="18" charset="0"/>
              </a:rPr>
              <a:t/>
            </a:r>
            <a:br>
              <a:rPr lang="en-US" sz="2400" b="1" dirty="0" smtClean="0">
                <a:solidFill>
                  <a:schemeClr val="tx1"/>
                </a:solidFill>
                <a:latin typeface="Times New Roman" pitchFamily="18" charset="0"/>
                <a:cs typeface="Times New Roman" pitchFamily="18" charset="0"/>
              </a:rPr>
            </a:br>
            <a:r>
              <a:rPr lang="en-US" sz="2000" b="1" dirty="0" smtClean="0">
                <a:solidFill>
                  <a:schemeClr val="tx1"/>
                </a:solidFill>
                <a:latin typeface="Times New Roman" pitchFamily="18" charset="0"/>
                <a:cs typeface="Times New Roman" pitchFamily="18" charset="0"/>
              </a:rPr>
              <a:t>--</a:t>
            </a:r>
            <a:r>
              <a:rPr lang="en-US" sz="2000" b="1" dirty="0" smtClean="0">
                <a:solidFill>
                  <a:schemeClr val="tx1"/>
                </a:solidFill>
              </a:rPr>
              <a:t> Service-Learning Projects</a:t>
            </a:r>
            <a:br>
              <a:rPr lang="en-US" sz="2000" b="1" dirty="0" smtClean="0">
                <a:solidFill>
                  <a:schemeClr val="tx1"/>
                </a:solidFill>
              </a:rPr>
            </a:br>
            <a:r>
              <a:rPr lang="en-US" sz="2000" b="1" dirty="0" smtClean="0">
                <a:solidFill>
                  <a:schemeClr val="tx1"/>
                </a:solidFill>
              </a:rPr>
              <a:t>--</a:t>
            </a:r>
            <a:r>
              <a:rPr lang="en-US" sz="2000" b="1" dirty="0" smtClean="0"/>
              <a:t> </a:t>
            </a:r>
            <a:r>
              <a:rPr lang="en-US" sz="2000" b="1" dirty="0" smtClean="0">
                <a:solidFill>
                  <a:schemeClr val="tx1"/>
                </a:solidFill>
              </a:rPr>
              <a:t>Partnerships with Local Organizations</a:t>
            </a:r>
            <a:br>
              <a:rPr lang="en-US" sz="2000" b="1" dirty="0" smtClean="0">
                <a:solidFill>
                  <a:schemeClr val="tx1"/>
                </a:solidFill>
              </a:rPr>
            </a:br>
            <a:r>
              <a:rPr lang="en-US" sz="2000" b="1" dirty="0" smtClean="0">
                <a:solidFill>
                  <a:schemeClr val="tx1"/>
                </a:solidFill>
              </a:rPr>
              <a:t>--</a:t>
            </a:r>
            <a:r>
              <a:rPr lang="en-US" sz="2000" b="1" dirty="0" smtClean="0"/>
              <a:t> </a:t>
            </a:r>
            <a:r>
              <a:rPr lang="en-US" sz="2000" b="1" dirty="0" smtClean="0">
                <a:solidFill>
                  <a:schemeClr val="tx1"/>
                </a:solidFill>
              </a:rPr>
              <a:t>Internships and Externships</a:t>
            </a:r>
            <a:br>
              <a:rPr lang="en-US" sz="2000" b="1" dirty="0" smtClean="0">
                <a:solidFill>
                  <a:schemeClr val="tx1"/>
                </a:solidFill>
              </a:rPr>
            </a:br>
            <a:r>
              <a:rPr lang="en-US" sz="2000" b="1" dirty="0" smtClean="0">
                <a:solidFill>
                  <a:schemeClr val="tx1"/>
                </a:solidFill>
              </a:rPr>
              <a:t>--</a:t>
            </a:r>
            <a:r>
              <a:rPr lang="en-US" sz="2000" b="1" dirty="0" smtClean="0"/>
              <a:t> </a:t>
            </a:r>
            <a:r>
              <a:rPr lang="en-US" sz="2000" b="1" dirty="0" smtClean="0">
                <a:solidFill>
                  <a:schemeClr val="tx1"/>
                </a:solidFill>
              </a:rPr>
              <a:t>Collaborative Research</a:t>
            </a:r>
            <a:br>
              <a:rPr lang="en-US" sz="2000" b="1" dirty="0" smtClean="0">
                <a:solidFill>
                  <a:schemeClr val="tx1"/>
                </a:solidFill>
              </a:rPr>
            </a:br>
            <a:r>
              <a:rPr lang="en-US" sz="2000" b="1" dirty="0" smtClean="0">
                <a:solidFill>
                  <a:schemeClr val="tx1"/>
                </a:solidFill>
              </a:rPr>
              <a:t>-- Public Lectures and Forums</a:t>
            </a:r>
            <a:br>
              <a:rPr lang="en-US" sz="2000" b="1" dirty="0" smtClean="0">
                <a:solidFill>
                  <a:schemeClr val="tx1"/>
                </a:solidFill>
              </a:rPr>
            </a:br>
            <a:r>
              <a:rPr lang="en-US" sz="2000" b="1" dirty="0" smtClean="0">
                <a:solidFill>
                  <a:schemeClr val="tx1"/>
                </a:solidFill>
              </a:rPr>
              <a:t>-- Community-Based Research Projects</a:t>
            </a:r>
            <a:br>
              <a:rPr lang="en-US" sz="2000" b="1" dirty="0" smtClean="0">
                <a:solidFill>
                  <a:schemeClr val="tx1"/>
                </a:solidFill>
              </a:rPr>
            </a:br>
            <a:r>
              <a:rPr lang="en-US" sz="2000" b="1" dirty="0" smtClean="0">
                <a:solidFill>
                  <a:schemeClr val="tx1"/>
                </a:solidFill>
              </a:rPr>
              <a:t>-- Cultural Exchange Programs</a:t>
            </a:r>
            <a:br>
              <a:rPr lang="en-US" sz="2000" b="1" dirty="0" smtClean="0">
                <a:solidFill>
                  <a:schemeClr val="tx1"/>
                </a:solidFill>
              </a:rPr>
            </a:br>
            <a:r>
              <a:rPr lang="en-US" sz="2000" b="1" dirty="0" smtClean="0">
                <a:solidFill>
                  <a:schemeClr val="tx1"/>
                </a:solidFill>
              </a:rPr>
              <a:t>-- Field Visits and Immersive Experiences</a:t>
            </a:r>
            <a:br>
              <a:rPr lang="en-US" sz="2000" b="1" dirty="0" smtClean="0">
                <a:solidFill>
                  <a:schemeClr val="tx1"/>
                </a:solidFill>
              </a:rPr>
            </a:br>
            <a:r>
              <a:rPr lang="en-US" sz="2000" b="1" dirty="0" smtClean="0">
                <a:solidFill>
                  <a:schemeClr val="tx1"/>
                </a:solidFill>
              </a:rPr>
              <a:t>-- Community Impact Assessments</a:t>
            </a:r>
            <a:br>
              <a:rPr lang="en-US" sz="2000" b="1" dirty="0" smtClean="0">
                <a:solidFill>
                  <a:schemeClr val="tx1"/>
                </a:solidFill>
              </a:rPr>
            </a:br>
            <a:r>
              <a:rPr lang="en-US" sz="2000" b="1" dirty="0" smtClean="0">
                <a:solidFill>
                  <a:schemeClr val="tx1"/>
                </a:solidFill>
              </a:rPr>
              <a:t>-- Publications and Media Outreach</a:t>
            </a:r>
            <a:br>
              <a:rPr lang="en-US" sz="2000" b="1" dirty="0" smtClean="0">
                <a:solidFill>
                  <a:schemeClr val="tx1"/>
                </a:solidFill>
              </a:rPr>
            </a:br>
            <a:r>
              <a:rPr lang="en-US" sz="2000" b="1" dirty="0" smtClean="0">
                <a:solidFill>
                  <a:schemeClr val="tx1"/>
                </a:solidFill>
              </a:rPr>
              <a:t>-- Community Advisory Boards</a:t>
            </a:r>
            <a:br>
              <a:rPr lang="en-US" sz="2000" b="1" dirty="0" smtClean="0">
                <a:solidFill>
                  <a:schemeClr val="tx1"/>
                </a:solidFill>
              </a:rPr>
            </a:br>
            <a:r>
              <a:rPr lang="en-US" sz="2000" b="1" dirty="0" smtClean="0">
                <a:solidFill>
                  <a:schemeClr val="tx1"/>
                </a:solidFill>
              </a:rPr>
              <a:t>-- Social Justice Initiatives</a:t>
            </a:r>
            <a:br>
              <a:rPr lang="en-US" sz="2000" b="1" dirty="0" smtClean="0">
                <a:solidFill>
                  <a:schemeClr val="tx1"/>
                </a:solidFill>
              </a:rPr>
            </a:br>
            <a:r>
              <a:rPr lang="en-US" sz="2000" b="1" dirty="0" smtClean="0">
                <a:solidFill>
                  <a:schemeClr val="tx1"/>
                </a:solidFill>
              </a:rPr>
              <a:t>-- Community-Based Learning Spaces</a:t>
            </a:r>
            <a:br>
              <a:rPr lang="en-US" sz="2000" b="1" dirty="0" smtClean="0">
                <a:solidFill>
                  <a:schemeClr val="tx1"/>
                </a:solidFill>
              </a:rPr>
            </a:br>
            <a:r>
              <a:rPr lang="en-US" sz="2000" b="1" dirty="0" smtClean="0">
                <a:solidFill>
                  <a:schemeClr val="tx1"/>
                </a:solidFill>
              </a:rPr>
              <a:t>-- Community Events and Workshops</a:t>
            </a:r>
            <a:br>
              <a:rPr lang="en-US" sz="2000" b="1" dirty="0" smtClean="0">
                <a:solidFill>
                  <a:schemeClr val="tx1"/>
                </a:solidFill>
              </a:rPr>
            </a:br>
            <a:r>
              <a:rPr lang="en-US" sz="2000" b="1" dirty="0" smtClean="0">
                <a:solidFill>
                  <a:schemeClr val="tx1"/>
                </a:solidFill>
              </a:rPr>
              <a:t>-- Volunteer Opportunities</a:t>
            </a:r>
            <a:endParaRPr lang="en-US" sz="2400" dirty="0">
              <a:solidFill>
                <a:schemeClr val="tx1"/>
              </a:solidFill>
            </a:endParaRPr>
          </a:p>
        </p:txBody>
      </p:sp>
      <p:sp>
        <p:nvSpPr>
          <p:cNvPr id="4" name="Footer Placeholder 3">
            <a:extLst>
              <a:ext uri="{FF2B5EF4-FFF2-40B4-BE49-F238E27FC236}">
                <a16:creationId xmlns:a16="http://schemas.microsoft.com/office/drawing/2014/main" xmlns="" id="{753507A7-6A48-4897-BE06-08A64201B93F}"/>
              </a:ext>
            </a:extLst>
          </p:cNvPr>
          <p:cNvSpPr>
            <a:spLocks noGrp="1"/>
          </p:cNvSpPr>
          <p:nvPr>
            <p:ph type="ftr" sz="quarter" idx="11"/>
          </p:nvPr>
        </p:nvSpPr>
        <p:spPr>
          <a:xfrm>
            <a:off x="0" y="6559522"/>
            <a:ext cx="3996266" cy="298478"/>
          </a:xfrm>
        </p:spPr>
        <p:txBody>
          <a:bodyPr/>
          <a:lstStyle/>
          <a:p>
            <a:r>
              <a:rPr lang="en-US" sz="1200" b="1" dirty="0">
                <a:solidFill>
                  <a:schemeClr val="tx1"/>
                </a:solidFill>
              </a:rPr>
              <a:t>KMC-HUMANITIES AND SOCIAL SCIENCE DEPARTMENT</a:t>
            </a:r>
          </a:p>
        </p:txBody>
      </p:sp>
    </p:spTree>
    <p:extLst>
      <p:ext uri="{BB962C8B-B14F-4D97-AF65-F5344CB8AC3E}">
        <p14:creationId xmlns:p14="http://schemas.microsoft.com/office/powerpoint/2010/main" val="1782407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C06973A-1CD2-4983-A1F9-4331AB9893DF}"/>
              </a:ext>
            </a:extLst>
          </p:cNvPr>
          <p:cNvSpPr>
            <a:spLocks noGrp="1"/>
          </p:cNvSpPr>
          <p:nvPr>
            <p:ph idx="1"/>
          </p:nvPr>
        </p:nvSpPr>
        <p:spPr>
          <a:xfrm>
            <a:off x="-1" y="0"/>
            <a:ext cx="12192001" cy="6857999"/>
          </a:xfrm>
        </p:spPr>
        <p:txBody>
          <a:bodyPr>
            <a:normAutofit/>
          </a:bodyPr>
          <a:lstStyle/>
          <a:p>
            <a:pPr marL="0" indent="0" algn="ctr">
              <a:buNone/>
            </a:pPr>
            <a:endParaRPr lang="en-US" dirty="0" smtClean="0"/>
          </a:p>
          <a:p>
            <a:pPr marL="0" indent="0" algn="ctr">
              <a:buNone/>
            </a:pPr>
            <a:r>
              <a:rPr lang="en-US" sz="2400" b="1" dirty="0" smtClean="0">
                <a:solidFill>
                  <a:schemeClr val="tx1"/>
                </a:solidFill>
                <a:latin typeface="Times New Roman" pitchFamily="18" charset="0"/>
                <a:cs typeface="Times New Roman" pitchFamily="18" charset="0"/>
              </a:rPr>
              <a:t>7. Qualification &amp; Skill :</a:t>
            </a:r>
          </a:p>
          <a:p>
            <a:pPr marL="0" indent="0">
              <a:buNone/>
            </a:pPr>
            <a:r>
              <a:rPr lang="en-US" sz="2400" b="1" dirty="0" smtClean="0">
                <a:solidFill>
                  <a:schemeClr val="tx1"/>
                </a:solidFill>
                <a:latin typeface="Times New Roman" pitchFamily="18" charset="0"/>
                <a:cs typeface="Times New Roman" pitchFamily="18" charset="0"/>
              </a:rPr>
              <a:t>--</a:t>
            </a:r>
            <a:r>
              <a:rPr lang="en-US" sz="2400" b="1" dirty="0" smtClean="0"/>
              <a:t>Qualifications: </a:t>
            </a:r>
            <a:r>
              <a:rPr lang="en-US" b="1" dirty="0" smtClean="0"/>
              <a:t>Advanced Degrees, Specialization, Research Experience, Teaching Experience, Continuing Professional Development</a:t>
            </a:r>
            <a:r>
              <a:rPr lang="en-US" sz="2400" b="1" dirty="0" smtClean="0"/>
              <a:t>.</a:t>
            </a:r>
            <a:endParaRPr lang="en-US" sz="2400" dirty="0" smtClean="0"/>
          </a:p>
          <a:p>
            <a:pPr marL="0" indent="0">
              <a:buNone/>
            </a:pPr>
            <a:r>
              <a:rPr lang="en-US" sz="2400" b="1" smtClean="0">
                <a:solidFill>
                  <a:schemeClr val="tx1"/>
                </a:solidFill>
                <a:latin typeface="Times New Roman" pitchFamily="18" charset="0"/>
                <a:cs typeface="Times New Roman" pitchFamily="18" charset="0"/>
              </a:rPr>
              <a:t>--</a:t>
            </a:r>
            <a:r>
              <a:rPr lang="en-US" sz="2400" b="1" dirty="0" smtClean="0"/>
              <a:t>Skills </a:t>
            </a:r>
            <a:r>
              <a:rPr lang="en-US" b="1" dirty="0" smtClean="0"/>
              <a:t>: Critical Thinking, Communication Skills, Research and Analytical Skills, Interdisciplinary Perspective, Empathy and Cultural Awareness, Information Literacy, Collaboration and Teamwork. Creativity and Innovation, Ethical Awareness, Adaptability, Problem-Solving Skills.</a:t>
            </a:r>
            <a:endParaRPr lang="en-US" dirty="0"/>
          </a:p>
        </p:txBody>
      </p:sp>
      <p:sp>
        <p:nvSpPr>
          <p:cNvPr id="2" name="Footer Placeholder 1">
            <a:extLst>
              <a:ext uri="{FF2B5EF4-FFF2-40B4-BE49-F238E27FC236}">
                <a16:creationId xmlns:a16="http://schemas.microsoft.com/office/drawing/2014/main" xmlns="" id="{EDA0488C-1849-4131-8AF5-9CEA1E78E60E}"/>
              </a:ext>
            </a:extLst>
          </p:cNvPr>
          <p:cNvSpPr>
            <a:spLocks noGrp="1"/>
          </p:cNvSpPr>
          <p:nvPr>
            <p:ph type="ftr" sz="quarter" idx="11"/>
          </p:nvPr>
        </p:nvSpPr>
        <p:spPr>
          <a:xfrm>
            <a:off x="0" y="6492875"/>
            <a:ext cx="6297612" cy="365125"/>
          </a:xfrm>
        </p:spPr>
        <p:txBody>
          <a:bodyPr/>
          <a:lstStyle/>
          <a:p>
            <a:pPr algn="r"/>
            <a:r>
              <a:rPr lang="en-US" sz="2000" dirty="0">
                <a:solidFill>
                  <a:schemeClr val="tx1"/>
                </a:solidFill>
              </a:rPr>
              <a:t>KMC-HUMANITIES AND SOCIAL SCIENCE DEPARTMENT</a:t>
            </a:r>
          </a:p>
        </p:txBody>
      </p:sp>
    </p:spTree>
    <p:extLst>
      <p:ext uri="{BB962C8B-B14F-4D97-AF65-F5344CB8AC3E}">
        <p14:creationId xmlns:p14="http://schemas.microsoft.com/office/powerpoint/2010/main" val="26842699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7C430FB-FD3C-40D7-BDAC-8D5F4481AEE0}"/>
              </a:ext>
            </a:extLst>
          </p:cNvPr>
          <p:cNvSpPr>
            <a:spLocks noGrp="1"/>
          </p:cNvSpPr>
          <p:nvPr>
            <p:ph idx="1"/>
          </p:nvPr>
        </p:nvSpPr>
        <p:spPr>
          <a:xfrm>
            <a:off x="0" y="0"/>
            <a:ext cx="12191999" cy="6857999"/>
          </a:xfrm>
        </p:spPr>
        <p:txBody>
          <a:bodyPr>
            <a:normAutofit/>
          </a:bodyPr>
          <a:lstStyle/>
          <a:p>
            <a:pPr marL="0" indent="0">
              <a:buNone/>
            </a:pPr>
            <a:r>
              <a:rPr lang="en-US" b="1" dirty="0"/>
              <a:t> Meeting minutes</a:t>
            </a:r>
            <a:endParaRPr lang="en-US" dirty="0"/>
          </a:p>
          <a:p>
            <a:pPr lvl="0"/>
            <a:r>
              <a:rPr lang="en-US" dirty="0"/>
              <a:t>Departmental meeting minutes for skills development courses</a:t>
            </a:r>
          </a:p>
          <a:p>
            <a:pPr lvl="0"/>
            <a:r>
              <a:rPr lang="en-US" dirty="0"/>
              <a:t> Departmental meeting minutes for Remedial classes</a:t>
            </a:r>
          </a:p>
          <a:p>
            <a:pPr lvl="0"/>
            <a:r>
              <a:rPr lang="en-US" dirty="0"/>
              <a:t> Event’s review meeting minutes </a:t>
            </a:r>
          </a:p>
          <a:p>
            <a:pPr lvl="0"/>
            <a:r>
              <a:rPr lang="en-US" dirty="0"/>
              <a:t> Department’s course revision meeting minutes</a:t>
            </a:r>
          </a:p>
          <a:p>
            <a:pPr lvl="0"/>
            <a:r>
              <a:rPr lang="en-US" dirty="0"/>
              <a:t> Minutes of Interaction program with academic peers &amp; employers </a:t>
            </a:r>
          </a:p>
          <a:p>
            <a:pPr lvl="0"/>
            <a:r>
              <a:rPr lang="en-US" dirty="0"/>
              <a:t> Minutes of Evaluation scheme  </a:t>
            </a:r>
          </a:p>
          <a:p>
            <a:pPr lvl="0"/>
            <a:r>
              <a:rPr lang="en-US" dirty="0"/>
              <a:t> Departmental meeting minutes for research supervisor</a:t>
            </a:r>
          </a:p>
          <a:p>
            <a:r>
              <a:rPr lang="en-US" dirty="0"/>
              <a:t> Minutes of the academic departments for Teaching Plan/Lesson Plan of Faculty in EMIS to study the impact of information system. </a:t>
            </a:r>
          </a:p>
          <a:p>
            <a:r>
              <a:rPr lang="en-US" dirty="0"/>
              <a:t> Minutes of selection committee for new appointments</a:t>
            </a:r>
          </a:p>
          <a:p>
            <a:r>
              <a:rPr lang="en-US" dirty="0"/>
              <a:t> Minutes of the department for developing computer aided learning packages using the Computers </a:t>
            </a:r>
          </a:p>
          <a:p>
            <a:r>
              <a:rPr lang="en-US" dirty="0"/>
              <a:t> Admission campaign minutes</a:t>
            </a:r>
          </a:p>
          <a:p>
            <a:r>
              <a:rPr lang="en-US" dirty="0"/>
              <a:t> Minute of Student Welfare, External Affairs and Extracurricular Activity Unit for Annual Sports week program</a:t>
            </a:r>
          </a:p>
          <a:p>
            <a:r>
              <a:rPr lang="en-US" dirty="0"/>
              <a:t> Department minute for Guest Lecture Classes</a:t>
            </a:r>
          </a:p>
          <a:p>
            <a:r>
              <a:rPr lang="en-US" dirty="0"/>
              <a:t> </a:t>
            </a:r>
          </a:p>
          <a:p>
            <a:endParaRPr lang="en-US" dirty="0"/>
          </a:p>
        </p:txBody>
      </p:sp>
      <p:sp>
        <p:nvSpPr>
          <p:cNvPr id="2" name="Footer Placeholder 1">
            <a:extLst>
              <a:ext uri="{FF2B5EF4-FFF2-40B4-BE49-F238E27FC236}">
                <a16:creationId xmlns:a16="http://schemas.microsoft.com/office/drawing/2014/main" xmlns="" id="{E9AA097F-4B65-4AD8-80AF-DADA678D5F6C}"/>
              </a:ext>
            </a:extLst>
          </p:cNvPr>
          <p:cNvSpPr>
            <a:spLocks noGrp="1"/>
          </p:cNvSpPr>
          <p:nvPr>
            <p:ph type="ftr" sz="quarter" idx="11"/>
          </p:nvPr>
        </p:nvSpPr>
        <p:spPr>
          <a:xfrm>
            <a:off x="0" y="6492875"/>
            <a:ext cx="6297612" cy="365125"/>
          </a:xfrm>
        </p:spPr>
        <p:txBody>
          <a:bodyPr/>
          <a:lstStyle/>
          <a:p>
            <a:r>
              <a:rPr lang="en-US" sz="2000" dirty="0">
                <a:solidFill>
                  <a:schemeClr val="tx1"/>
                </a:solidFill>
              </a:rPr>
              <a:t>KMC-HUMANITIES AND SOCIAL SCIENCE DEPARTMENT</a:t>
            </a:r>
          </a:p>
        </p:txBody>
      </p:sp>
    </p:spTree>
    <p:extLst>
      <p:ext uri="{BB962C8B-B14F-4D97-AF65-F5344CB8AC3E}">
        <p14:creationId xmlns:p14="http://schemas.microsoft.com/office/powerpoint/2010/main" val="3908171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513A5557-7B1E-40A6-852B-1C11C55A6B5C}"/>
              </a:ext>
            </a:extLst>
          </p:cNvPr>
          <p:cNvSpPr>
            <a:spLocks noGrp="1"/>
          </p:cNvSpPr>
          <p:nvPr>
            <p:ph type="ftr" sz="quarter" idx="11"/>
          </p:nvPr>
        </p:nvSpPr>
        <p:spPr>
          <a:xfrm>
            <a:off x="0" y="6492873"/>
            <a:ext cx="6297612" cy="365125"/>
          </a:xfrm>
        </p:spPr>
        <p:txBody>
          <a:bodyPr/>
          <a:lstStyle/>
          <a:p>
            <a:r>
              <a:rPr lang="en-US" sz="2000" dirty="0">
                <a:solidFill>
                  <a:schemeClr val="tx1"/>
                </a:solidFill>
              </a:rPr>
              <a:t>KMC-HUMANITIES AND SOCIAL SCIENCE DEPARTMENT</a:t>
            </a:r>
          </a:p>
        </p:txBody>
      </p:sp>
      <p:pic>
        <p:nvPicPr>
          <p:cNvPr id="6" name="Picture 5">
            <a:extLst>
              <a:ext uri="{FF2B5EF4-FFF2-40B4-BE49-F238E27FC236}">
                <a16:creationId xmlns:a16="http://schemas.microsoft.com/office/drawing/2014/main" xmlns="" id="{33E67356-3BFF-42D4-AA32-4B9560B0A4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94521"/>
            <a:ext cx="12192000" cy="5141568"/>
          </a:xfrm>
          <a:prstGeom prst="rect">
            <a:avLst/>
          </a:prstGeom>
        </p:spPr>
      </p:pic>
      <p:pic>
        <p:nvPicPr>
          <p:cNvPr id="8" name="Picture 7">
            <a:extLst>
              <a:ext uri="{FF2B5EF4-FFF2-40B4-BE49-F238E27FC236}">
                <a16:creationId xmlns:a16="http://schemas.microsoft.com/office/drawing/2014/main" xmlns="" id="{CDCCDA21-23A3-45A8-A0D2-41CD237339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68510" y="3056821"/>
            <a:ext cx="8782260" cy="3353435"/>
          </a:xfrm>
          <a:prstGeom prst="rect">
            <a:avLst/>
          </a:prstGeom>
        </p:spPr>
      </p:pic>
    </p:spTree>
    <p:extLst>
      <p:ext uri="{BB962C8B-B14F-4D97-AF65-F5344CB8AC3E}">
        <p14:creationId xmlns:p14="http://schemas.microsoft.com/office/powerpoint/2010/main" val="29339607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11367A6-1CA1-4EB8-A5F9-E02568591384}"/>
              </a:ext>
            </a:extLst>
          </p:cNvPr>
          <p:cNvSpPr>
            <a:spLocks noGrp="1"/>
          </p:cNvSpPr>
          <p:nvPr>
            <p:ph idx="1"/>
          </p:nvPr>
        </p:nvSpPr>
        <p:spPr>
          <a:xfrm>
            <a:off x="677334" y="-40639"/>
            <a:ext cx="8596668" cy="6447126"/>
          </a:xfrm>
        </p:spPr>
        <p:txBody>
          <a:bodyPr/>
          <a:lstStyle/>
          <a:p>
            <a:endParaRPr lang="en-US" dirty="0"/>
          </a:p>
          <a:p>
            <a:pPr marL="0" indent="0" algn="ctr">
              <a:buNone/>
            </a:pPr>
            <a:endParaRPr lang="en-US" dirty="0"/>
          </a:p>
          <a:p>
            <a:pPr marL="0" indent="0" algn="ctr">
              <a:buNone/>
            </a:pPr>
            <a:r>
              <a:rPr lang="en-US" sz="3200" dirty="0">
                <a:solidFill>
                  <a:srgbClr val="FF0000"/>
                </a:solidFill>
                <a:latin typeface="Algerian" panose="04020705040A02060702" pitchFamily="82" charset="0"/>
              </a:rPr>
              <a:t>Its Time for Your</a:t>
            </a:r>
          </a:p>
          <a:p>
            <a:pPr marL="0" indent="0" algn="ctr">
              <a:buNone/>
            </a:pPr>
            <a:r>
              <a:rPr lang="en-US" sz="3200" dirty="0">
                <a:solidFill>
                  <a:srgbClr val="FF0000"/>
                </a:solidFill>
                <a:latin typeface="Algerian" panose="04020705040A02060702" pitchFamily="82" charset="0"/>
              </a:rPr>
              <a:t> Valuable Feedback ???</a:t>
            </a:r>
          </a:p>
          <a:p>
            <a:pPr marL="0" indent="0" algn="ctr">
              <a:buNone/>
            </a:pPr>
            <a:r>
              <a:rPr lang="en-US" sz="4000" dirty="0">
                <a:solidFill>
                  <a:schemeClr val="accent1">
                    <a:lumMod val="50000"/>
                  </a:schemeClr>
                </a:solidFill>
                <a:latin typeface="Algerian" panose="04020705040A02060702" pitchFamily="82" charset="0"/>
              </a:rPr>
              <a:t>    </a:t>
            </a:r>
            <a:r>
              <a:rPr lang="en-US" sz="3200" dirty="0">
                <a:solidFill>
                  <a:srgbClr val="C00000"/>
                </a:solidFill>
                <a:latin typeface="Algerian" panose="04020705040A02060702" pitchFamily="82" charset="0"/>
              </a:rPr>
              <a:t>Do You</a:t>
            </a:r>
            <a:r>
              <a:rPr lang="en-US" sz="3200" dirty="0">
                <a:solidFill>
                  <a:schemeClr val="accent1">
                    <a:lumMod val="75000"/>
                  </a:schemeClr>
                </a:solidFill>
                <a:latin typeface="Algerian" panose="04020705040A02060702" pitchFamily="82" charset="0"/>
              </a:rPr>
              <a:t> </a:t>
            </a:r>
          </a:p>
          <a:p>
            <a:pPr marL="0" indent="0" algn="ctr">
              <a:buNone/>
            </a:pPr>
            <a:r>
              <a:rPr lang="en-US" sz="3200" dirty="0">
                <a:solidFill>
                  <a:schemeClr val="accent1">
                    <a:lumMod val="75000"/>
                  </a:schemeClr>
                </a:solidFill>
                <a:latin typeface="Algerian" panose="04020705040A02060702" pitchFamily="82" charset="0"/>
              </a:rPr>
              <a:t>     Have any</a:t>
            </a:r>
          </a:p>
          <a:p>
            <a:pPr marL="0" indent="0" algn="ctr">
              <a:buNone/>
            </a:pPr>
            <a:r>
              <a:rPr lang="en-US" sz="3200" dirty="0">
                <a:solidFill>
                  <a:schemeClr val="accent1">
                    <a:lumMod val="75000"/>
                  </a:schemeClr>
                </a:solidFill>
                <a:latin typeface="Algerian" panose="04020705040A02060702" pitchFamily="82" charset="0"/>
              </a:rPr>
              <a:t>            question  ?.....</a:t>
            </a:r>
          </a:p>
          <a:p>
            <a:pPr marL="0" indent="0" algn="ctr">
              <a:buNone/>
            </a:pPr>
            <a:r>
              <a:rPr lang="en-US" sz="3200" dirty="0">
                <a:solidFill>
                  <a:schemeClr val="accent1">
                    <a:lumMod val="75000"/>
                  </a:schemeClr>
                </a:solidFill>
                <a:latin typeface="Algerian" panose="04020705040A02060702" pitchFamily="82" charset="0"/>
              </a:rPr>
              <a:t>OR</a:t>
            </a:r>
          </a:p>
          <a:p>
            <a:pPr marL="0" indent="0" algn="ctr">
              <a:buNone/>
            </a:pPr>
            <a:r>
              <a:rPr lang="en-US" sz="3200" dirty="0">
                <a:solidFill>
                  <a:schemeClr val="accent1">
                    <a:lumMod val="75000"/>
                  </a:schemeClr>
                </a:solidFill>
                <a:latin typeface="Algerian" panose="04020705040A02060702" pitchFamily="82" charset="0"/>
              </a:rPr>
              <a:t>Query……………..???</a:t>
            </a:r>
          </a:p>
        </p:txBody>
      </p:sp>
      <p:sp>
        <p:nvSpPr>
          <p:cNvPr id="2" name="Footer Placeholder 1">
            <a:extLst>
              <a:ext uri="{FF2B5EF4-FFF2-40B4-BE49-F238E27FC236}">
                <a16:creationId xmlns:a16="http://schemas.microsoft.com/office/drawing/2014/main" xmlns="" id="{E11698CA-544D-4989-8E3A-D085C6CA7477}"/>
              </a:ext>
            </a:extLst>
          </p:cNvPr>
          <p:cNvSpPr>
            <a:spLocks noGrp="1"/>
          </p:cNvSpPr>
          <p:nvPr>
            <p:ph type="ftr" sz="quarter" idx="11"/>
          </p:nvPr>
        </p:nvSpPr>
        <p:spPr>
          <a:xfrm>
            <a:off x="0" y="6278880"/>
            <a:ext cx="6238240" cy="579120"/>
          </a:xfrm>
        </p:spPr>
        <p:txBody>
          <a:bodyPr/>
          <a:lstStyle/>
          <a:p>
            <a:r>
              <a:rPr lang="en-US" sz="2000" dirty="0">
                <a:solidFill>
                  <a:srgbClr val="FF0000"/>
                </a:solidFill>
              </a:rPr>
              <a:t>KMC-HUMANITIES AND SOCIAL SCIENCE DEPARTMENT</a:t>
            </a:r>
          </a:p>
        </p:txBody>
      </p:sp>
      <p:sp>
        <p:nvSpPr>
          <p:cNvPr id="9" name="Rectangle 8">
            <a:extLst>
              <a:ext uri="{FF2B5EF4-FFF2-40B4-BE49-F238E27FC236}">
                <a16:creationId xmlns:a16="http://schemas.microsoft.com/office/drawing/2014/main" xmlns="" id="{CB5AF22A-7414-42CA-85AE-6A2361DBA4D3}"/>
              </a:ext>
            </a:extLst>
          </p:cNvPr>
          <p:cNvSpPr/>
          <p:nvPr/>
        </p:nvSpPr>
        <p:spPr>
          <a:xfrm>
            <a:off x="7792720" y="0"/>
            <a:ext cx="4399280" cy="1569660"/>
          </a:xfrm>
          <a:prstGeom prst="rect">
            <a:avLst/>
          </a:prstGeom>
          <a:noFill/>
        </p:spPr>
        <p:txBody>
          <a:bodyPr wrap="square" lIns="91440" tIns="45720" rIns="91440" bIns="45720">
            <a:spAutoFit/>
          </a:bodyPr>
          <a:lstStyle/>
          <a:p>
            <a:pPr algn="ctr"/>
            <a:r>
              <a:rPr lang="en-US" sz="3200" b="1" i="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KMC-Humanities</a:t>
            </a:r>
          </a:p>
          <a:p>
            <a:pPr algn="ctr"/>
            <a:r>
              <a:rPr lang="en-US" sz="3200" b="1" i="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and </a:t>
            </a:r>
          </a:p>
          <a:p>
            <a:pPr algn="ctr"/>
            <a:r>
              <a:rPr lang="en-US" sz="3200" b="1" i="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Social Science</a:t>
            </a:r>
          </a:p>
        </p:txBody>
      </p:sp>
      <p:pic>
        <p:nvPicPr>
          <p:cNvPr id="5" name="Picture 4">
            <a:extLst>
              <a:ext uri="{FF2B5EF4-FFF2-40B4-BE49-F238E27FC236}">
                <a16:creationId xmlns:a16="http://schemas.microsoft.com/office/drawing/2014/main" xmlns="" id="{48A06FF9-5024-4112-92CB-628BB50B28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3600" y="1610298"/>
            <a:ext cx="3708400" cy="4796189"/>
          </a:xfrm>
          <a:prstGeom prst="rect">
            <a:avLst/>
          </a:prstGeom>
        </p:spPr>
      </p:pic>
    </p:spTree>
    <p:extLst>
      <p:ext uri="{BB962C8B-B14F-4D97-AF65-F5344CB8AC3E}">
        <p14:creationId xmlns:p14="http://schemas.microsoft.com/office/powerpoint/2010/main" val="385362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heel(1)">
                                      <p:cBhvr>
                                        <p:cTn id="7" dur="20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heel(1)">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heel(1)">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heel(1)">
                                      <p:cBhvr>
                                        <p:cTn id="22" dur="20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heel(1)">
                                      <p:cBhvr>
                                        <p:cTn id="27" dur="20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heel(1)">
                                      <p:cBhvr>
                                        <p:cTn id="32" dur="2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heel(1)">
                                      <p:cBhvr>
                                        <p:cTn id="37" dur="20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wheel(1)">
                                      <p:cBhvr>
                                        <p:cTn id="42" dur="20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1" presetClass="entr" presetSubtype="1" fill="hold"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wheel(1)">
                                      <p:cBhvr>
                                        <p:cTn id="47" dur="2000"/>
                                        <p:tgtEl>
                                          <p:spTgt spid="3">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nodeType="clickEffect">
                                  <p:stCondLst>
                                    <p:cond delay="0"/>
                                  </p:stCondLst>
                                  <p:childTnLst>
                                    <p:set>
                                      <p:cBhvr>
                                        <p:cTn id="51" dur="1" fill="hold">
                                          <p:stCondLst>
                                            <p:cond delay="0"/>
                                          </p:stCondLst>
                                        </p:cTn>
                                        <p:tgtEl>
                                          <p:spTgt spid="3">
                                            <p:txEl>
                                              <p:pRg st="3" end="3"/>
                                            </p:txEl>
                                          </p:spTgt>
                                        </p:tgtEl>
                                        <p:attrNameLst>
                                          <p:attrName>style.visibility</p:attrName>
                                        </p:attrNameLst>
                                      </p:cBhvr>
                                      <p:to>
                                        <p:strVal val="visible"/>
                                      </p:to>
                                    </p:set>
                                    <p:animEffect transition="in" filter="wheel(1)">
                                      <p:cBhvr>
                                        <p:cTn id="52" dur="2000"/>
                                        <p:tgtEl>
                                          <p:spTgt spid="3">
                                            <p:txEl>
                                              <p:pRg st="3" end="3"/>
                                            </p:txEl>
                                          </p:spTgt>
                                        </p:tgtEl>
                                      </p:cBhvr>
                                    </p:animEffect>
                                  </p:childTnLst>
                                </p:cTn>
                              </p:par>
                              <p:par>
                                <p:cTn id="53" presetID="21" presetClass="entr" presetSubtype="1" fill="hold" nodeType="with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animEffect transition="in" filter="wheel(1)">
                                      <p:cBhvr>
                                        <p:cTn id="55" dur="2000"/>
                                        <p:tgtEl>
                                          <p:spTgt spid="3">
                                            <p:txEl>
                                              <p:pRg st="5" end="5"/>
                                            </p:txEl>
                                          </p:spTgt>
                                        </p:tgtEl>
                                      </p:cBhvr>
                                    </p:animEffect>
                                  </p:childTnLst>
                                </p:cTn>
                              </p:par>
                              <p:par>
                                <p:cTn id="56" presetID="21" presetClass="entr" presetSubtype="1" fill="hold" nodeType="withEffect">
                                  <p:stCondLst>
                                    <p:cond delay="0"/>
                                  </p:stCondLst>
                                  <p:childTnLst>
                                    <p:set>
                                      <p:cBhvr>
                                        <p:cTn id="57" dur="1" fill="hold">
                                          <p:stCondLst>
                                            <p:cond delay="0"/>
                                          </p:stCondLst>
                                        </p:cTn>
                                        <p:tgtEl>
                                          <p:spTgt spid="3">
                                            <p:txEl>
                                              <p:pRg st="6" end="6"/>
                                            </p:txEl>
                                          </p:spTgt>
                                        </p:tgtEl>
                                        <p:attrNameLst>
                                          <p:attrName>style.visibility</p:attrName>
                                        </p:attrNameLst>
                                      </p:cBhvr>
                                      <p:to>
                                        <p:strVal val="visible"/>
                                      </p:to>
                                    </p:set>
                                    <p:animEffect transition="in" filter="wheel(1)">
                                      <p:cBhvr>
                                        <p:cTn id="58" dur="2000"/>
                                        <p:tgtEl>
                                          <p:spTgt spid="3">
                                            <p:txEl>
                                              <p:pRg st="6" end="6"/>
                                            </p:txEl>
                                          </p:spTgt>
                                        </p:tgtEl>
                                      </p:cBhvr>
                                    </p:animEffect>
                                  </p:childTnLst>
                                </p:cTn>
                              </p:par>
                              <p:par>
                                <p:cTn id="59" presetID="21" presetClass="entr" presetSubtype="1" fill="hold" nodeType="withEffect">
                                  <p:stCondLst>
                                    <p:cond delay="0"/>
                                  </p:stCondLst>
                                  <p:childTnLst>
                                    <p:set>
                                      <p:cBhvr>
                                        <p:cTn id="60" dur="1" fill="hold">
                                          <p:stCondLst>
                                            <p:cond delay="0"/>
                                          </p:stCondLst>
                                        </p:cTn>
                                        <p:tgtEl>
                                          <p:spTgt spid="3">
                                            <p:txEl>
                                              <p:pRg st="7" end="7"/>
                                            </p:txEl>
                                          </p:spTgt>
                                        </p:tgtEl>
                                        <p:attrNameLst>
                                          <p:attrName>style.visibility</p:attrName>
                                        </p:attrNameLst>
                                      </p:cBhvr>
                                      <p:to>
                                        <p:strVal val="visible"/>
                                      </p:to>
                                    </p:set>
                                    <p:animEffect transition="in" filter="wheel(1)">
                                      <p:cBhvr>
                                        <p:cTn id="61" dur="2000"/>
                                        <p:tgtEl>
                                          <p:spTgt spid="3">
                                            <p:txEl>
                                              <p:pRg st="7" end="7"/>
                                            </p:txEl>
                                          </p:spTgt>
                                        </p:tgtEl>
                                      </p:cBhvr>
                                    </p:animEffect>
                                  </p:childTnLst>
                                </p:cTn>
                              </p:par>
                              <p:par>
                                <p:cTn id="62" presetID="21" presetClass="entr" presetSubtype="1" fill="hold" nodeType="withEffect">
                                  <p:stCondLst>
                                    <p:cond delay="0"/>
                                  </p:stCondLst>
                                  <p:childTnLst>
                                    <p:set>
                                      <p:cBhvr>
                                        <p:cTn id="63" dur="1" fill="hold">
                                          <p:stCondLst>
                                            <p:cond delay="0"/>
                                          </p:stCondLst>
                                        </p:cTn>
                                        <p:tgtEl>
                                          <p:spTgt spid="3">
                                            <p:txEl>
                                              <p:pRg st="8" end="8"/>
                                            </p:txEl>
                                          </p:spTgt>
                                        </p:tgtEl>
                                        <p:attrNameLst>
                                          <p:attrName>style.visibility</p:attrName>
                                        </p:attrNameLst>
                                      </p:cBhvr>
                                      <p:to>
                                        <p:strVal val="visible"/>
                                      </p:to>
                                    </p:set>
                                    <p:animEffect transition="in" filter="wheel(1)">
                                      <p:cBhvr>
                                        <p:cTn id="64" dur="2000"/>
                                        <p:tgtEl>
                                          <p:spTgt spid="3">
                                            <p:txEl>
                                              <p:pRg st="8" end="8"/>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2">
                                            <p:txEl>
                                              <p:pRg st="0" end="0"/>
                                            </p:txEl>
                                          </p:spTgt>
                                        </p:tgtEl>
                                        <p:attrNameLst>
                                          <p:attrName>style.visibility</p:attrName>
                                        </p:attrNameLst>
                                      </p:cBhvr>
                                      <p:to>
                                        <p:strVal val="visible"/>
                                      </p:to>
                                    </p:set>
                                    <p:anim calcmode="lin" valueType="num">
                                      <p:cBhvr additive="base">
                                        <p:cTn id="69"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9">
                                            <p:txEl>
                                              <p:pRg st="0" end="0"/>
                                            </p:txEl>
                                          </p:spTgt>
                                        </p:tgtEl>
                                        <p:attrNameLst>
                                          <p:attrName>style.visibility</p:attrName>
                                        </p:attrNameLst>
                                      </p:cBhvr>
                                      <p:to>
                                        <p:strVal val="visible"/>
                                      </p:to>
                                    </p:set>
                                    <p:anim calcmode="lin" valueType="num">
                                      <p:cBhvr additive="base">
                                        <p:cTn id="75"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9">
                                            <p:txEl>
                                              <p:pRg st="0" end="0"/>
                                            </p:txEl>
                                          </p:spTgt>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9">
                                            <p:txEl>
                                              <p:pRg st="1" end="1"/>
                                            </p:txEl>
                                          </p:spTgt>
                                        </p:tgtEl>
                                        <p:attrNameLst>
                                          <p:attrName>style.visibility</p:attrName>
                                        </p:attrNameLst>
                                      </p:cBhvr>
                                      <p:to>
                                        <p:strVal val="visible"/>
                                      </p:to>
                                    </p:set>
                                    <p:anim calcmode="lin" valueType="num">
                                      <p:cBhvr additive="base">
                                        <p:cTn id="79"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9">
                                            <p:txEl>
                                              <p:pRg st="1" end="1"/>
                                            </p:txEl>
                                          </p:spTgt>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9">
                                            <p:txEl>
                                              <p:pRg st="2" end="2"/>
                                            </p:txEl>
                                          </p:spTgt>
                                        </p:tgtEl>
                                        <p:attrNameLst>
                                          <p:attrName>style.visibility</p:attrName>
                                        </p:attrNameLst>
                                      </p:cBhvr>
                                      <p:to>
                                        <p:strVal val="visible"/>
                                      </p:to>
                                    </p:set>
                                    <p:anim calcmode="lin" valueType="num">
                                      <p:cBhvr additive="base">
                                        <p:cTn id="83"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5"/>
                                        </p:tgtEl>
                                        <p:attrNameLst>
                                          <p:attrName>style.visibility</p:attrName>
                                        </p:attrNameLst>
                                      </p:cBhvr>
                                      <p:to>
                                        <p:strVal val="visible"/>
                                      </p:to>
                                    </p:set>
                                    <p:anim calcmode="lin" valueType="num">
                                      <p:cBhvr additive="base">
                                        <p:cTn id="89" dur="500" fill="hold"/>
                                        <p:tgtEl>
                                          <p:spTgt spid="5"/>
                                        </p:tgtEl>
                                        <p:attrNameLst>
                                          <p:attrName>ppt_x</p:attrName>
                                        </p:attrNameLst>
                                      </p:cBhvr>
                                      <p:tavLst>
                                        <p:tav tm="0">
                                          <p:val>
                                            <p:strVal val="#ppt_x"/>
                                          </p:val>
                                        </p:tav>
                                        <p:tav tm="100000">
                                          <p:val>
                                            <p:strVal val="#ppt_x"/>
                                          </p:val>
                                        </p:tav>
                                      </p:tavLst>
                                    </p:anim>
                                    <p:anim calcmode="lin" valueType="num">
                                      <p:cBhvr additive="base">
                                        <p:cTn id="9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14283E9-6A1A-4EF2-BB57-123E7CF5939E}"/>
              </a:ext>
            </a:extLst>
          </p:cNvPr>
          <p:cNvSpPr>
            <a:spLocks noGrp="1"/>
          </p:cNvSpPr>
          <p:nvPr>
            <p:ph idx="1"/>
          </p:nvPr>
        </p:nvSpPr>
        <p:spPr>
          <a:xfrm>
            <a:off x="677334" y="-40639"/>
            <a:ext cx="8596668" cy="6041362"/>
          </a:xfrm>
        </p:spPr>
        <p:txBody>
          <a:bodyPr>
            <a:normAutofit/>
          </a:bodyPr>
          <a:lstStyle/>
          <a:p>
            <a:pPr marL="0" indent="0" algn="ctr">
              <a:buNone/>
            </a:pPr>
            <a:endParaRPr lang="en-US" sz="3600" b="1" dirty="0">
              <a:solidFill>
                <a:srgbClr val="FF0000"/>
              </a:solidFill>
              <a:latin typeface="Algerian" panose="04020705040A02060702" pitchFamily="82" charset="0"/>
            </a:endParaRPr>
          </a:p>
          <a:p>
            <a:pPr marL="0" indent="0" algn="ctr">
              <a:buNone/>
            </a:pPr>
            <a:endParaRPr lang="en-US" sz="3600" b="1" dirty="0">
              <a:solidFill>
                <a:srgbClr val="FF0000"/>
              </a:solidFill>
              <a:latin typeface="Algerian" panose="04020705040A02060702" pitchFamily="82" charset="0"/>
            </a:endParaRPr>
          </a:p>
          <a:p>
            <a:pPr marL="0" indent="0" algn="ctr">
              <a:buNone/>
            </a:pPr>
            <a:r>
              <a:rPr lang="en-US" sz="3600" b="1" i="1" dirty="0">
                <a:solidFill>
                  <a:srgbClr val="FF0000"/>
                </a:solidFill>
                <a:latin typeface="Algerian" panose="04020705040A02060702" pitchFamily="82" charset="0"/>
                <a:cs typeface="Times New Roman" panose="02020603050405020304" pitchFamily="18" charset="0"/>
              </a:rPr>
              <a:t>Thanks for your valuable time to giving me an opportunities to show the presentation</a:t>
            </a:r>
            <a:br>
              <a:rPr lang="en-US" sz="3600" b="1" i="1" dirty="0">
                <a:solidFill>
                  <a:srgbClr val="FF0000"/>
                </a:solidFill>
                <a:latin typeface="Algerian" panose="04020705040A02060702" pitchFamily="82" charset="0"/>
                <a:cs typeface="Times New Roman" panose="02020603050405020304" pitchFamily="18" charset="0"/>
              </a:rPr>
            </a:br>
            <a:r>
              <a:rPr lang="en-US" sz="3600" b="1" i="1" dirty="0">
                <a:solidFill>
                  <a:srgbClr val="FF0000"/>
                </a:solidFill>
                <a:latin typeface="Algerian" panose="04020705040A02060702" pitchFamily="82" charset="0"/>
                <a:cs typeface="Times New Roman" panose="02020603050405020304" pitchFamily="18" charset="0"/>
              </a:rPr>
              <a:t/>
            </a:r>
            <a:br>
              <a:rPr lang="en-US" sz="3600" b="1" i="1" dirty="0">
                <a:solidFill>
                  <a:srgbClr val="FF0000"/>
                </a:solidFill>
                <a:latin typeface="Algerian" panose="04020705040A02060702" pitchFamily="82" charset="0"/>
                <a:cs typeface="Times New Roman" panose="02020603050405020304" pitchFamily="18" charset="0"/>
              </a:rPr>
            </a:br>
            <a:r>
              <a:rPr lang="en-US" sz="3600" b="1" i="1" dirty="0">
                <a:solidFill>
                  <a:srgbClr val="FF0000"/>
                </a:solidFill>
                <a:latin typeface="Algerian" panose="04020705040A02060702" pitchFamily="82" charset="0"/>
                <a:cs typeface="Times New Roman" panose="02020603050405020304" pitchFamily="18" charset="0"/>
              </a:rPr>
              <a:t/>
            </a:r>
            <a:br>
              <a:rPr lang="en-US" sz="3600" b="1" i="1" dirty="0">
                <a:solidFill>
                  <a:srgbClr val="FF0000"/>
                </a:solidFill>
                <a:latin typeface="Algerian" panose="04020705040A02060702" pitchFamily="82" charset="0"/>
                <a:cs typeface="Times New Roman" panose="02020603050405020304" pitchFamily="18" charset="0"/>
              </a:rPr>
            </a:br>
            <a:r>
              <a:rPr lang="en-US" sz="3600" b="1" i="1" dirty="0">
                <a:solidFill>
                  <a:srgbClr val="FF0000"/>
                </a:solidFill>
                <a:latin typeface="Algerian" panose="04020705040A02060702" pitchFamily="82" charset="0"/>
                <a:cs typeface="Times New Roman" panose="02020603050405020304" pitchFamily="18" charset="0"/>
              </a:rPr>
              <a:t>Prepared &amp; Presented By:</a:t>
            </a:r>
            <a:br>
              <a:rPr lang="en-US" sz="3600" b="1" i="1" dirty="0">
                <a:solidFill>
                  <a:srgbClr val="FF0000"/>
                </a:solidFill>
                <a:latin typeface="Algerian" panose="04020705040A02060702" pitchFamily="82" charset="0"/>
                <a:cs typeface="Times New Roman" panose="02020603050405020304" pitchFamily="18" charset="0"/>
              </a:rPr>
            </a:br>
            <a:r>
              <a:rPr lang="en-US" sz="3600" b="1" i="1" dirty="0">
                <a:solidFill>
                  <a:srgbClr val="FF0000"/>
                </a:solidFill>
                <a:latin typeface="Algerian" panose="04020705040A02060702" pitchFamily="82" charset="0"/>
                <a:cs typeface="Times New Roman" panose="02020603050405020304" pitchFamily="18" charset="0"/>
              </a:rPr>
              <a:t>Mr</a:t>
            </a:r>
            <a:r>
              <a:rPr lang="en-US" sz="3600" b="1" i="1" dirty="0" smtClean="0">
                <a:solidFill>
                  <a:srgbClr val="FF0000"/>
                </a:solidFill>
                <a:latin typeface="Algerian" panose="04020705040A02060702" pitchFamily="82" charset="0"/>
                <a:cs typeface="Times New Roman" panose="02020603050405020304" pitchFamily="18" charset="0"/>
              </a:rPr>
              <a:t>. </a:t>
            </a:r>
            <a:r>
              <a:rPr lang="en-US" sz="3600" b="1" i="1" dirty="0" err="1">
                <a:solidFill>
                  <a:srgbClr val="FF0000"/>
                </a:solidFill>
                <a:latin typeface="Algerian" panose="04020705040A02060702" pitchFamily="82" charset="0"/>
                <a:cs typeface="Times New Roman" panose="02020603050405020304" pitchFamily="18" charset="0"/>
              </a:rPr>
              <a:t>Bishnu</a:t>
            </a:r>
            <a:r>
              <a:rPr lang="en-US" sz="3600" b="1" i="1" dirty="0">
                <a:solidFill>
                  <a:srgbClr val="FF0000"/>
                </a:solidFill>
                <a:latin typeface="Algerian" panose="04020705040A02060702" pitchFamily="82" charset="0"/>
                <a:cs typeface="Times New Roman" panose="02020603050405020304" pitchFamily="18" charset="0"/>
              </a:rPr>
              <a:t> </a:t>
            </a:r>
            <a:r>
              <a:rPr lang="en-US" sz="3600" b="1" i="1" dirty="0" smtClean="0">
                <a:solidFill>
                  <a:srgbClr val="FF0000"/>
                </a:solidFill>
                <a:latin typeface="Algerian" panose="04020705040A02060702" pitchFamily="82" charset="0"/>
                <a:cs typeface="Times New Roman" panose="02020603050405020304" pitchFamily="18" charset="0"/>
              </a:rPr>
              <a:t> </a:t>
            </a:r>
            <a:r>
              <a:rPr lang="en-US" sz="3600" b="1" i="1" dirty="0">
                <a:solidFill>
                  <a:srgbClr val="FF0000"/>
                </a:solidFill>
                <a:latin typeface="Algerian" panose="04020705040A02060702" pitchFamily="82" charset="0"/>
                <a:cs typeface="Times New Roman" panose="02020603050405020304" pitchFamily="18" charset="0"/>
              </a:rPr>
              <a:t>Singh </a:t>
            </a:r>
            <a:r>
              <a:rPr lang="en-US" sz="3600" b="1" i="1" dirty="0" smtClean="0">
                <a:solidFill>
                  <a:srgbClr val="FF0000"/>
                </a:solidFill>
                <a:latin typeface="Algerian" panose="04020705040A02060702" pitchFamily="82" charset="0"/>
                <a:cs typeface="Times New Roman" panose="02020603050405020304" pitchFamily="18" charset="0"/>
              </a:rPr>
              <a:t> </a:t>
            </a:r>
            <a:r>
              <a:rPr lang="en-US" sz="3600" b="1" i="1" dirty="0" err="1" smtClean="0">
                <a:solidFill>
                  <a:srgbClr val="FF0000"/>
                </a:solidFill>
                <a:latin typeface="Algerian" panose="04020705040A02060702" pitchFamily="82" charset="0"/>
                <a:cs typeface="Times New Roman" panose="02020603050405020304" pitchFamily="18" charset="0"/>
              </a:rPr>
              <a:t>Rayamajhi</a:t>
            </a:r>
            <a:endParaRPr lang="en-US" sz="3600" b="1" i="1" dirty="0">
              <a:solidFill>
                <a:srgbClr val="FF0000"/>
              </a:solidFill>
              <a:latin typeface="Algerian" panose="04020705040A02060702" pitchFamily="82" charset="0"/>
            </a:endParaRPr>
          </a:p>
        </p:txBody>
      </p:sp>
      <p:sp>
        <p:nvSpPr>
          <p:cNvPr id="2" name="Footer Placeholder 1">
            <a:extLst>
              <a:ext uri="{FF2B5EF4-FFF2-40B4-BE49-F238E27FC236}">
                <a16:creationId xmlns:a16="http://schemas.microsoft.com/office/drawing/2014/main" xmlns="" id="{2043387B-D710-4BD5-AEE1-0151F4D6A6F1}"/>
              </a:ext>
            </a:extLst>
          </p:cNvPr>
          <p:cNvSpPr>
            <a:spLocks noGrp="1"/>
          </p:cNvSpPr>
          <p:nvPr>
            <p:ph type="ftr" sz="quarter" idx="11"/>
          </p:nvPr>
        </p:nvSpPr>
        <p:spPr>
          <a:xfrm>
            <a:off x="0" y="6400800"/>
            <a:ext cx="6971560" cy="457199"/>
          </a:xfrm>
        </p:spPr>
        <p:txBody>
          <a:bodyPr/>
          <a:lstStyle/>
          <a:p>
            <a:r>
              <a:rPr lang="en-US" sz="2000" dirty="0">
                <a:solidFill>
                  <a:srgbClr val="C00000"/>
                </a:solidFill>
              </a:rPr>
              <a:t>KMC-HUMANITIES AND SOCIAL SCIENCE DEPARTMENT</a:t>
            </a:r>
          </a:p>
        </p:txBody>
      </p:sp>
    </p:spTree>
    <p:extLst>
      <p:ext uri="{BB962C8B-B14F-4D97-AF65-F5344CB8AC3E}">
        <p14:creationId xmlns:p14="http://schemas.microsoft.com/office/powerpoint/2010/main" val="277330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000"/>
                                        <p:tgtEl>
                                          <p:spTgt spid="3">
                                            <p:txEl>
                                              <p:pRg st="2" end="2"/>
                                            </p:txEl>
                                          </p:spTgt>
                                        </p:tgtEl>
                                      </p:cBhvr>
                                    </p:animEffect>
                                    <p:anim calcmode="lin" valueType="num">
                                      <p:cBhvr>
                                        <p:cTn id="1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arn(inVertical)">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7" presetClass="emph" presetSubtype="0" fill="remove" nodeType="clickEffect">
                                  <p:stCondLst>
                                    <p:cond delay="0"/>
                                  </p:stCondLst>
                                  <p:childTnLst>
                                    <p:animClr clrSpc="rgb" dir="cw">
                                      <p:cBhvr override="childStyle">
                                        <p:cTn id="24" dur="250" autoRev="1" fill="remove"/>
                                        <p:tgtEl>
                                          <p:spTgt spid="2">
                                            <p:txEl>
                                              <p:pRg st="0" end="0"/>
                                            </p:txEl>
                                          </p:spTgt>
                                        </p:tgtEl>
                                        <p:attrNameLst>
                                          <p:attrName>style.color</p:attrName>
                                        </p:attrNameLst>
                                      </p:cBhvr>
                                      <p:to>
                                        <a:schemeClr val="bg1"/>
                                      </p:to>
                                    </p:animClr>
                                    <p:animClr clrSpc="rgb" dir="cw">
                                      <p:cBhvr>
                                        <p:cTn id="25" dur="250" autoRev="1" fill="remove"/>
                                        <p:tgtEl>
                                          <p:spTgt spid="2">
                                            <p:txEl>
                                              <p:pRg st="0" end="0"/>
                                            </p:txEl>
                                          </p:spTgt>
                                        </p:tgtEl>
                                        <p:attrNameLst>
                                          <p:attrName>fillcolor</p:attrName>
                                        </p:attrNameLst>
                                      </p:cBhvr>
                                      <p:to>
                                        <a:schemeClr val="bg1"/>
                                      </p:to>
                                    </p:animClr>
                                    <p:set>
                                      <p:cBhvr>
                                        <p:cTn id="26" dur="250" autoRev="1" fill="remove"/>
                                        <p:tgtEl>
                                          <p:spTgt spid="2">
                                            <p:txEl>
                                              <p:pRg st="0" end="0"/>
                                            </p:txEl>
                                          </p:spTgt>
                                        </p:tgtEl>
                                        <p:attrNameLst>
                                          <p:attrName>fill.type</p:attrName>
                                        </p:attrNameLst>
                                      </p:cBhvr>
                                      <p:to>
                                        <p:strVal val="solid"/>
                                      </p:to>
                                    </p:set>
                                    <p:set>
                                      <p:cBhvr>
                                        <p:cTn id="27" dur="250" autoRev="1" fill="remove"/>
                                        <p:tgtEl>
                                          <p:spTgt spid="2">
                                            <p:txEl>
                                              <p:pRg st="0" end="0"/>
                                            </p:txEl>
                                          </p:spTgt>
                                        </p:tgtEl>
                                        <p:attrNameLst>
                                          <p:attrName>fill.on</p:attrName>
                                        </p:attrNameLst>
                                      </p:cBhvr>
                                      <p:to>
                                        <p:strVal val="true"/>
                                      </p:to>
                                    </p:se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1"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 calcmode="lin" valueType="num">
                                      <p:cBhvr additive="base">
                                        <p:cTn id="3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2" nodeType="clickEffect">
                                  <p:stCondLst>
                                    <p:cond delay="0"/>
                                  </p:stCondLst>
                                  <p:childTnLst>
                                    <p:set>
                                      <p:cBhvr>
                                        <p:cTn id="37" dur="1" fill="hold">
                                          <p:stCondLst>
                                            <p:cond delay="0"/>
                                          </p:stCondLst>
                                        </p:cTn>
                                        <p:tgtEl>
                                          <p:spTgt spid="3">
                                            <p:txEl>
                                              <p:pRg st="2" end="2"/>
                                            </p:txEl>
                                          </p:spTgt>
                                        </p:tgtEl>
                                        <p:attrNameLst>
                                          <p:attrName>style.visibility</p:attrName>
                                        </p:attrNameLst>
                                      </p:cBhvr>
                                      <p:to>
                                        <p:strVal val="visible"/>
                                      </p:to>
                                    </p:set>
                                    <p:anim calcmode="lin" valueType="num">
                                      <p:cBhvr additive="base">
                                        <p:cTn id="3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3" grpId="1" build="p"/>
      <p:bldP spid="3" grpId="2" build="p"/>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1122</TotalTime>
  <Words>2206</Words>
  <Application>Microsoft Office PowerPoint</Application>
  <PresentationFormat>Widescreen</PresentationFormat>
  <Paragraphs>242</Paragraphs>
  <Slides>14</Slides>
  <Notes>11</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Algerian</vt:lpstr>
      <vt:lpstr>Arial</vt:lpstr>
      <vt:lpstr>Calibri</vt:lpstr>
      <vt:lpstr>Open Sans</vt:lpstr>
      <vt:lpstr>Times New Roman</vt:lpstr>
      <vt:lpstr>Trebuchet MS</vt:lpstr>
      <vt:lpstr>Wingdings 3</vt:lpstr>
      <vt:lpstr>Facet</vt:lpstr>
      <vt:lpstr>KAPILVASTU MULTIPLE CAMPUS, TAULIHAWA, KAPILVASTU</vt:lpstr>
      <vt:lpstr>PowerPoint Presentation</vt:lpstr>
      <vt:lpstr> Welcome-To-KMC-Humanities-And-Social-Science:  Academic Department of Humanities &amp; Social Science:  1. Curriculum Development &amp; Review  2. Course Delivery &amp; Instruction  3. Student Support &amp; Advising  4. Research &amp; Scholarship  5. Quality Assurance &amp; Accreditation  6. Community Engagement &amp; Collaboration  7. Qualification &amp; Skill   </vt:lpstr>
      <vt:lpstr>PowerPoint Presentation</vt:lpstr>
      <vt:lpstr>PowerPoint Presentation</vt:lpstr>
      <vt:lpstr>PowerPoint Presentation</vt:lpstr>
      <vt:lpstr>PowerPoint Presentation</vt:lpstr>
      <vt:lpstr>PowerPoint Presentation</vt:lpstr>
      <vt:lpstr>                                         6. Community Engagement &amp; Collaboration :  -- Service-Learning Projects -- Partnerships with Local Organizations -- Internships and Externships -- Collaborative Research -- Public Lectures and Forums -- Community-Based Research Projects -- Cultural Exchange Programs -- Field Visits and Immersive Experiences -- Community Impact Assessments -- Publications and Media Outreach -- Community Advisory Boards -- Social Justice Initiatives -- Community-Based Learning Spaces -- Community Events and Workshops -- Volunteer Opportunities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bipson Rayamajhi</dc:creator>
  <cp:lastModifiedBy>Microsoft account</cp:lastModifiedBy>
  <cp:revision>286</cp:revision>
  <dcterms:created xsi:type="dcterms:W3CDTF">2021-07-14T21:36:43Z</dcterms:created>
  <dcterms:modified xsi:type="dcterms:W3CDTF">2026-08-24T13:23:12Z</dcterms:modified>
</cp:coreProperties>
</file>